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50b76a2-3433-339d-bc99-1dd797f4adae}">
          <p14:sldIdLst>
            <p14:sldId id="256"/>
          </p14:sldIdLst>
        </p14:section>
        <p14:section name="The problem" id="{ea56265f-0cfb-64e3-423b-494fa9e7f1a4}">
          <p14:sldIdLst>
            <p14:sldId id="257"/>
          </p14:sldIdLst>
        </p14:section>
        <p14:section name="The hard case" id="{85a37dab-b8cb-97a4-2c7e-a093c6c25af0}">
          <p14:sldIdLst>
            <p14:sldId id="258"/>
            <p14:sldId id="259"/>
          </p14:sldIdLst>
        </p14:section>
        <p14:section name="Design" id="{a9fff5ff-f924-5dc0-79d8-344da14a2e6e}">
          <p14:sldIdLst>
            <p14:sldId id="260"/>
            <p14:sldId id="261"/>
            <p14:sldId id="262"/>
          </p14:sldIdLst>
        </p14:section>
        <p14:section name="Platform" id="{b60fd7ca-f4b7-eb2b-48c2-6fa065abfe87}">
          <p14:sldIdLst>
            <p14:sldId id="263"/>
            <p14:sldId id="264"/>
          </p14:sldIdLst>
        </p14:section>
        <p14:section name="Results" id="{27d68f55-8f7b-57a2-8b86-69e26d65b543}">
          <p14:sldIdLst>
            <p14:sldId id="265"/>
            <p14:sldId id="266"/>
            <p14:sldId id="267"/>
          </p14:sldIdLst>
        </p14:section>
        <p14:section name="Judgement" id="{fd06b7ed-e947-daac-f4cd-2530e1677558}">
          <p14:sldIdLst>
            <p14:sldId id="268"/>
            <p14:sldId id="269"/>
          </p14:sldIdLst>
        </p14:section>
        <p14:section name="Close" id="{0ab88996-8491-31bd-43e1-7dab8a5e1270}">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p95 of a complete run (s)</c:v>
                </c:pt>
              </c:strCache>
            </c:strRef>
          </c:tx>
          <c:spPr>
            <a:solidFill>
              <a:srgbClr val="3F7D6E"/>
            </a:solidFill>
            <a:effectLst/>
          </c:spPr>
          <c:invertIfNegative val="0"/>
          <c:dLbls>
            <c:numFmt formatCode="0.0&quot;s&quot;" sourceLinked="0"/>
            <c:txPr>
              <a:bodyPr/>
              <a:lstStyle/>
              <a:p>
                <a:pPr>
                  <a:defRPr b="0" i="0" strike="noStrike" sz="1100" u="none">
                    <a:solidFill>
                      <a:srgbClr val="16181F"/>
                    </a:solidFill>
                    <a:latin typeface="+mn-lt"/>
                  </a:defRPr>
                </a:pPr>
              </a:p>
            </c:txPr>
            <c:showLegendKey val="0"/>
            <c:showVal val="1"/>
            <c:showCatName val="0"/>
            <c:showSerName val="0"/>
            <c:showPercent val="0"/>
            <c:showBubbleSize val="0"/>
            <c:showLeaderLines val="0"/>
          </c:dLbls>
          <c:dPt>
            <c:idx val="0"/>
            <c:invertIfNegative val="0"/>
            <c:bubble3D val="0"/>
            <c:spPr>
              <a:solidFill>
                <a:srgbClr val="3F7D6E"/>
              </a:solidFill>
              <a:effectLst/>
            </c:spPr>
          </c:dPt>
          <c:dPt>
            <c:idx val="1"/>
            <c:invertIfNegative val="0"/>
            <c:bubble3D val="0"/>
            <c:spPr>
              <a:solidFill>
                <a:srgbClr val="3F7D6E"/>
              </a:solidFill>
              <a:effectLst/>
            </c:spPr>
          </c:dPt>
          <c:dPt>
            <c:idx val="2"/>
            <c:invertIfNegative val="0"/>
            <c:bubble3D val="0"/>
            <c:spPr>
              <a:solidFill>
                <a:srgbClr val="3F7D6E"/>
              </a:solidFill>
              <a:effectLst/>
            </c:spPr>
          </c:dPt>
          <c:dPt>
            <c:idx val="3"/>
            <c:invertIfNegative val="0"/>
            <c:bubble3D val="0"/>
            <c:spPr>
              <a:solidFill>
                <a:srgbClr val="3F7D6E"/>
              </a:solidFill>
              <a:effectLst/>
            </c:spPr>
          </c:dPt>
          <c:dPt>
            <c:idx val="4"/>
            <c:invertIfNegative val="0"/>
            <c:bubble3D val="0"/>
            <c:spPr>
              <a:solidFill>
                <a:srgbClr val="E0A458"/>
              </a:solidFill>
              <a:effectLst/>
            </c:spPr>
          </c:dPt>
          <c:dPt>
            <c:idx val="5"/>
            <c:invertIfNegative val="0"/>
            <c:bubble3D val="0"/>
            <c:spPr>
              <a:solidFill>
                <a:srgbClr val="E0A458"/>
              </a:solidFill>
              <a:effectLst/>
            </c:spPr>
          </c:dPt>
          <c:dPt>
            <c:idx val="6"/>
            <c:invertIfNegative val="0"/>
            <c:bubble3D val="0"/>
            <c:spPr>
              <a:solidFill>
                <a:srgbClr val="B85042"/>
              </a:solidFill>
              <a:effectLst/>
            </c:spPr>
          </c:dPt>
          <c:cat>
            <c:multiLvlStrRef>
              <c:f>Sheet1!$A$2:$A$8</c:f>
              <c:multiLvlStrCache>
                <c:ptCount val="7"/>
                <c:lvl>
                  <c:pt idx="0">
                    <c:v>5</c:v>
                  </c:pt>
                  <c:pt idx="1">
                    <c:v>20</c:v>
                  </c:pt>
                  <c:pt idx="2">
                    <c:v>50</c:v>
                  </c:pt>
                  <c:pt idx="3">
                    <c:v>150</c:v>
                  </c:pt>
                  <c:pt idx="4">
                    <c:v>400</c:v>
                  </c:pt>
                  <c:pt idx="5">
                    <c:v>600</c:v>
                  </c:pt>
                  <c:pt idx="6">
                    <c:v>800</c:v>
                  </c:pt>
                </c:lvl>
              </c:multiLvlStrCache>
            </c:multiLvlStrRef>
          </c:cat>
          <c:val>
            <c:numRef>
              <c:f>Sheet1!$B$2:$B$8</c:f>
              <c:numCache>
                <c:formatCode>General</c:formatCode>
                <c:ptCount val="7"/>
                <c:pt idx="0">
                  <c:v>2.6</c:v>
                </c:pt>
                <c:pt idx="1">
                  <c:v>2.6</c:v>
                </c:pt>
                <c:pt idx="2">
                  <c:v>2.7</c:v>
                </c:pt>
                <c:pt idx="3">
                  <c:v>7.9</c:v>
                </c:pt>
                <c:pt idx="4">
                  <c:v>22</c:v>
                </c:pt>
                <c:pt idx="5">
                  <c:v>41</c:v>
                </c:pt>
                <c:pt idx="6">
                  <c:v>57</c:v>
                </c:pt>
              </c:numCache>
            </c:numRef>
          </c:val>
        </c:ser>
        <c:dLbls>
          <c:numFmt formatCode="0.0&quot;s&quot;" sourceLinked="0"/>
          <c:txPr>
            <a:bodyPr/>
            <a:lstStyle/>
            <a:p>
              <a:pPr>
                <a:defRPr b="0" i="0" strike="noStrike" sz="1100" u="none">
                  <a:solidFill>
                    <a:srgbClr val="1618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A6378"/>
                    </a:solidFill>
                    <a:latin typeface="+mn-lt"/>
                  </a:defRPr>
                </a:pPr>
                <a:r>
                  <a:rPr sz="1100" b="0" i="0" u="none" strike="noStrike">
                    <a:solidFill>
                      <a:srgbClr val="5A6378"/>
                    </a:solidFill>
                    <a:latin typeface="+mn-lt"/>
                  </a:rPr>
                  <a:t>concurrent callers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378"/>
                </a:solidFill>
                <a:latin typeface="+mn-lt"/>
              </a:defRPr>
            </a:pPr>
            <a:endParaRPr lang="en-US"/>
          </a:p>
        </c:txPr>
        <c:crossAx val="2094734552"/>
        <c:crosses val="autoZero"/>
        <c:auto val="1"/>
        <c:lblAlgn val="ctr"/>
        <c:noMultiLvlLbl val="1"/>
      </c:catAx>
      <c:valAx>
        <c:axId val="2094734552"/>
        <c:scaling>
          <c:orientation val="minMax"/>
          <c:max val="65"/>
        </c:scaling>
        <c:delete val="0"/>
        <c:axPos val="l"/>
        <c:majorGridlines>
          <c:spPr>
            <a:ln w="12700" cap="flat">
              <a:solidFill>
                <a:srgbClr val="E3E5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3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tokens per run</c:v>
                </c:pt>
              </c:strCache>
            </c:strRef>
          </c:tx>
          <c:spPr>
            <a:solidFill>
              <a:srgbClr val="B85042"/>
            </a:solidFill>
            <a:effectLst/>
          </c:spPr>
          <c:invertIfNegative val="0"/>
          <c:dLbls>
            <c:numFmt formatCode="#,##0" sourceLinked="0"/>
            <c:txPr>
              <a:bodyPr/>
              <a:lstStyle/>
              <a:p>
                <a:pPr>
                  <a:defRPr b="0" i="0" strike="noStrike" sz="1100" u="none">
                    <a:solidFill>
                      <a:srgbClr val="16181F"/>
                    </a:solidFill>
                    <a:latin typeface="+mn-lt"/>
                  </a:defRPr>
                </a:pPr>
              </a:p>
            </c:txPr>
            <c:showLegendKey val="0"/>
            <c:showVal val="1"/>
            <c:showCatName val="0"/>
            <c:showSerName val="0"/>
            <c:showPercent val="0"/>
            <c:showBubbleSize val="0"/>
            <c:showLeaderLines val="0"/>
          </c:dLbls>
          <c:dPt>
            <c:idx val="0"/>
            <c:invertIfNegative val="0"/>
            <c:bubble3D val="0"/>
            <c:spPr>
              <a:solidFill>
                <a:srgbClr val="B85042"/>
              </a:solidFill>
              <a:effectLst/>
            </c:spPr>
          </c:dPt>
          <c:dPt>
            <c:idx val="1"/>
            <c:invertIfNegative val="0"/>
            <c:bubble3D val="0"/>
            <c:spPr>
              <a:solidFill>
                <a:srgbClr val="B85042"/>
              </a:solidFill>
              <a:effectLst/>
            </c:spPr>
          </c:dPt>
          <c:dPt>
            <c:idx val="2"/>
            <c:invertIfNegative val="0"/>
            <c:bubble3D val="0"/>
            <c:spPr>
              <a:solidFill>
                <a:srgbClr val="B85042"/>
              </a:solidFill>
              <a:effectLst/>
            </c:spPr>
          </c:dPt>
          <c:dPt>
            <c:idx val="3"/>
            <c:invertIfNegative val="0"/>
            <c:bubble3D val="0"/>
            <c:spPr>
              <a:solidFill>
                <a:srgbClr val="5A6378"/>
              </a:solidFill>
              <a:effectLst/>
            </c:spPr>
          </c:dPt>
          <c:dPt>
            <c:idx val="4"/>
            <c:invertIfNegative val="0"/>
            <c:bubble3D val="0"/>
            <c:spPr>
              <a:solidFill>
                <a:srgbClr val="5A6378"/>
              </a:solidFill>
              <a:effectLst/>
            </c:spPr>
          </c:dPt>
          <c:cat>
            <c:multiLvlStrRef>
              <c:f>Sheet1!$A$2:$A$6</c:f>
              <c:multiLvlStrCache>
                <c:ptCount val="5"/>
                <c:lvl>
                  <c:pt idx="0">
                    <c:v>coverage_analysis</c:v>
                  </c:pt>
                  <c:pt idx="1">
                    <c:v>verification</c:v>
                  </c:pt>
                  <c:pt idx="2">
                    <c:v>query_formulation</c:v>
                  </c:pt>
                  <c:pt idx="3">
                    <c:v>routing</c:v>
                  </c:pt>
                  <c:pt idx="4">
                    <c:v>intake_classification</c:v>
                  </c:pt>
                </c:lvl>
              </c:multiLvlStrCache>
            </c:multiLvlStrRef>
          </c:cat>
          <c:val>
            <c:numRef>
              <c:f>Sheet1!$B$2:$B$6</c:f>
              <c:numCache>
                <c:formatCode>General</c:formatCode>
                <c:ptCount val="5"/>
                <c:pt idx="0">
                  <c:v>4976</c:v>
                </c:pt>
                <c:pt idx="1">
                  <c:v>4484</c:v>
                </c:pt>
                <c:pt idx="2">
                  <c:v>4140</c:v>
                </c:pt>
                <c:pt idx="3">
                  <c:v>936</c:v>
                </c:pt>
                <c:pt idx="4">
                  <c:v>854</c:v>
                </c:pt>
              </c:numCache>
            </c:numRef>
          </c:val>
        </c:ser>
        <c:dLbls>
          <c:numFmt formatCode="#,##0" sourceLinked="0"/>
          <c:txPr>
            <a:bodyPr/>
            <a:lstStyle/>
            <a:p>
              <a:pPr>
                <a:defRPr b="0" i="0" strike="noStrike" sz="1100" u="none">
                  <a:solidFill>
                    <a:srgbClr val="16181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5A6378"/>
                </a:solidFill>
                <a:latin typeface="+mn-lt"/>
              </a:defRPr>
            </a:pPr>
            <a:endParaRPr lang="en-US"/>
          </a:p>
        </c:txPr>
        <c:crossAx val="2094734552"/>
        <c:crosses val="autoZero"/>
        <c:auto val="1"/>
        <c:lblAlgn val="ctr"/>
        <c:noMultiLvlLbl val="1"/>
      </c:catAx>
      <c:valAx>
        <c:axId val="2094734552"/>
        <c:scaling>
          <c:orientation val="minMax"/>
          <c:max val="6000"/>
        </c:scaling>
        <c:delete val="0"/>
        <c:axPos val="b"/>
        <c:majorGridlines>
          <c:spPr>
            <a:ln w="12700" cap="flat">
              <a:solidFill>
                <a:srgbClr val="E3E5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3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talk in one sentence: this is a retrieval problem disguised as a classification problem. Say the advisory line out loud — it is a design constraint enforced by an output guardrail, not a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 45 seconds. The next slide is the one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Read the sentence, then the three clauses, in order. The point to land: the clause that decides the outcome is the one the question cannot reach. Everything after this slide is a consequence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just use a bigger model' — this slide is the answer. The information is not in the retrieved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line is lifted verbatim from the v2 query-formulation prompt. It is the design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tools: corpus_search, find_named_clause, get_clause, clause_neighbours, get_claim_field. find_named_clause exists specifically for the section 4.1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if the examiner asks what makes this different from a RAG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image, two Dockerfile stages, four roles. The split that pays is the dependency one: the API image omits torch.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are rules, not a classifier — deliberate: a model call per field on a free tier, and an unauditable block. Say so before being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scenario matters: commuting to work is also a 'purpose'. A system that fails it has learned the wrong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numbers are not from containers: Docker was not installed on the build machine. Say it plainly; the limitation is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half: the embedding and retrieval caches buy almost nothing, because the embedder and index are both local. We measured it rather than asserting 'caching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engineering-judgement slide. Do not rush it — it is worth more than any feature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slide. An examiner who finds an undisclosed gap trusts nothing else; one who is told the gaps trusts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scripts/smoke.sh before the session so nothing is discovered live. It prints PASS or FAIL for all ten demonstration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1874520"/>
            <a:ext cx="11027664" cy="365760"/>
          </a:xfrm>
          <a:prstGeom prst="rect">
            <a:avLst/>
          </a:prstGeom>
          <a:noFill/>
          <a:ln/>
        </p:spPr>
        <p:txBody>
          <a:bodyPr wrap="square" rtlCol="0"/>
          <a:lstStyle>
            <a:lvl1pPr algn="l" indent="0" marL="0">
              <a:buNone/>
              <a:defRPr lang="en-US" sz="1400" b="1" spc="300" kern="0" dirty="0">
                <a:solidFill>
                  <a:srgbClr val="E0A458"/>
                </a:solidFill>
              </a:defRPr>
            </a:lvl1pPr>
          </a:lstStyle>
          <a:p>
            <a:pPr algn="l" indent="0" marL="0">
              <a:buNone/>
            </a:pPr>
            <a:endParaRPr lang="en-US" sz="1400" dirty="0"/>
          </a:p>
        </p:txBody>
      </p:sp>
      <p:sp>
        <p:nvSpPr>
          <p:cNvPr id="3" name="Text 0"/>
          <p:cNvSpPr/>
          <p:nvPr>
            <p:ph idx="101" type="title" hasCustomPrompt="1"/>
          </p:nvPr>
        </p:nvSpPr>
        <p:spPr>
          <a:xfrm>
            <a:off x="566928" y="2286000"/>
            <a:ext cx="11027664" cy="1755648"/>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66928" y="3977640"/>
            <a:ext cx="8595360" cy="1371600"/>
          </a:xfrm>
          <a:prstGeom prst="rect">
            <a:avLst/>
          </a:prstGeom>
          <a:noFill/>
          <a:ln/>
        </p:spPr>
        <p:txBody>
          <a:bodyPr wrap="square" rtlCol="0"/>
          <a:lstStyle>
            <a:lvl1pPr algn="l" indent="0" marL="0">
              <a:buNone/>
              <a:defRPr lang="en-US" sz="1700" dirty="0">
                <a:solidFill>
                  <a:srgbClr val="A7BEAE"/>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2651760"/>
            <a:ext cx="11027664" cy="365760"/>
          </a:xfrm>
          <a:prstGeom prst="rect">
            <a:avLst/>
          </a:prstGeom>
          <a:noFill/>
          <a:ln/>
        </p:spPr>
        <p:txBody>
          <a:bodyPr wrap="square" rtlCol="0"/>
          <a:lstStyle>
            <a:lvl1pPr indent="0" marL="0">
              <a:buNone/>
              <a:defRPr lang="en-US" sz="1300" b="1" spc="300" kern="0" dirty="0">
                <a:solidFill>
                  <a:srgbClr val="E0A458"/>
                </a:solidFill>
              </a:defRPr>
            </a:lvl1pPr>
          </a:lstStyle>
          <a:p>
            <a:pPr indent="0" marL="0">
              <a:buNone/>
            </a:pPr>
            <a:endParaRPr lang="en-US" sz="1300" dirty="0"/>
          </a:p>
        </p:txBody>
      </p:sp>
      <p:sp>
        <p:nvSpPr>
          <p:cNvPr id="3" name="Text 0"/>
          <p:cNvSpPr/>
          <p:nvPr>
            <p:ph idx="101" type="title" hasCustomPrompt="1"/>
          </p:nvPr>
        </p:nvSpPr>
        <p:spPr>
          <a:xfrm>
            <a:off x="566928" y="3035808"/>
            <a:ext cx="11027664" cy="10058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4" name="Text 0"/>
          <p:cNvSpPr/>
          <p:nvPr>
            <p:ph idx="102" type="body" hasCustomPrompt="1"/>
          </p:nvPr>
        </p:nvSpPr>
        <p:spPr>
          <a:xfrm>
            <a:off x="566928" y="4069080"/>
            <a:ext cx="8778240" cy="822960"/>
          </a:xfrm>
          <a:prstGeom prst="rect">
            <a:avLst/>
          </a:prstGeom>
          <a:noFill/>
          <a:ln/>
        </p:spPr>
        <p:txBody>
          <a:bodyPr wrap="square" rtlCol="0"/>
          <a:lstStyle>
            <a:lvl1pPr indent="0" marL="0">
              <a:buNone/>
              <a:defRPr lang="en-US" sz="1600" dirty="0">
                <a:solidFill>
                  <a:srgbClr val="A7BEAE"/>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566928" y="1152144"/>
            <a:ext cx="11027664" cy="5029200"/>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4" name="Text 0"/>
          <p:cNvSpPr txBox="1"/>
          <p:nvPr/>
        </p:nvSpPr>
        <p:spPr>
          <a:xfrm>
            <a:off x="566928" y="6364224"/>
            <a:ext cx="6858000" cy="274320"/>
          </a:xfrm>
          <a:prstGeom prst="rect">
            <a:avLst/>
          </a:prstGeom>
          <a:noFill/>
          <a:ln/>
        </p:spPr>
        <p:txBody>
          <a:bodyPr wrap="square" rtlCol="0" anchor="ctr"/>
          <a:lstStyle/>
          <a:p>
            <a:pPr indent="0" marL="0">
              <a:buNone/>
            </a:pPr>
            <a:r>
              <a:rPr lang="en-US" sz="950" dirty="0">
                <a:solidFill>
                  <a:srgbClr val="5A6378"/>
                </a:solidFill>
              </a:rPr>
              <a:t>Motor Insurance Claim Intake and Triage</a:t>
            </a:r>
            <a:endParaRPr lang="en-US" sz="9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66928" y="1152144"/>
            <a:ext cx="11027664" cy="5029200"/>
          </a:xfrm>
          <a:prstGeom prst="rect">
            <a:avLst/>
          </a:prstGeom>
          <a:noFill/>
          <a:ln/>
        </p:spPr>
        <p:txBody>
          <a:bodyPr wrap="square" rtlCol="0"/>
          <a:lstStyle>
            <a:lvl1pPr algn="l" indent="0" marL="0">
              <a:buNone/>
              <a:defRPr lang="en-US" sz="1500" dirty="0">
                <a:solidFill>
                  <a:srgbClr val="D8DCE6"/>
                </a:solidFill>
              </a:defRPr>
            </a:lvl1pPr>
          </a:lstStyle>
          <a:p>
            <a:pPr algn="l" indent="0" marL="0">
              <a:buNone/>
            </a:pPr>
            <a:endParaRPr lang="en-US" sz="1500" dirty="0"/>
          </a:p>
        </p:txBody>
      </p:sp>
      <p:sp>
        <p:nvSpPr>
          <p:cNvPr id="4" name="Text 0"/>
          <p:cNvSpPr txBox="1"/>
          <p:nvPr/>
        </p:nvSpPr>
        <p:spPr>
          <a:xfrm>
            <a:off x="566928" y="6364224"/>
            <a:ext cx="6858000" cy="274320"/>
          </a:xfrm>
          <a:prstGeom prst="rect">
            <a:avLst/>
          </a:prstGeom>
          <a:noFill/>
          <a:ln/>
        </p:spPr>
        <p:txBody>
          <a:bodyPr wrap="square" rtlCol="0" anchor="ctr"/>
          <a:lstStyle/>
          <a:p>
            <a:pPr indent="0" marL="0">
              <a:buNone/>
            </a:pPr>
            <a:r>
              <a:rPr lang="en-US" sz="950" dirty="0">
                <a:solidFill>
                  <a:srgbClr val="6E7689"/>
                </a:solidFill>
              </a:rPr>
              <a:t>Motor Insurance Claim Intake and Triage</a:t>
            </a:r>
            <a:endParaRPr lang="en-US" sz="9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E7689"/>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RT_SLID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chart" hasCustomPrompt="1"/>
          </p:nvPr>
        </p:nvSpPr>
        <p:spPr>
          <a:xfrm>
            <a:off x="566928" y="1280160"/>
            <a:ext cx="6858000" cy="4480560"/>
          </a:xfrm>
          <a:prstGeom prst="rect">
            <a:avLst/>
          </a:prstGeom>
          <a:noFill/>
          <a:ln/>
        </p:spPr>
        <p:txBody>
          <a:bodyPr wrap="square" rtlCol="0"/>
          <a:lstStyle>
            <a:lvl1pPr indent="0" marL="0">
              <a:buNone/>
              <a:defRPr lang="en-US" dirty="0">
                <a:solidFill>
                  <a:schemeClr val="tx1"/>
                </a:solidFill>
              </a:defRPr>
            </a:lvl1pPr>
          </a:lstStyle>
          <a:p>
            <a:pPr indent="0" marL="0">
              <a:buNone/>
            </a:pPr>
            <a:endParaRPr lang="en-US" dirty="0"/>
          </a:p>
        </p:txBody>
      </p:sp>
      <p:sp>
        <p:nvSpPr>
          <p:cNvPr id="4" name="Text 0"/>
          <p:cNvSpPr/>
          <p:nvPr>
            <p:ph idx="102" type="body" hasCustomPrompt="1"/>
          </p:nvPr>
        </p:nvSpPr>
        <p:spPr>
          <a:xfrm>
            <a:off x="7699248" y="1280160"/>
            <a:ext cx="3895344" cy="4480560"/>
          </a:xfrm>
          <a:prstGeom prst="rect">
            <a:avLst/>
          </a:prstGeom>
          <a:noFill/>
          <a:ln/>
        </p:spPr>
        <p:txBody>
          <a:bodyPr wrap="square" rtlCol="0"/>
          <a:lstStyle>
            <a:lvl1pPr indent="0" marL="0">
              <a:buNone/>
              <a:defRPr lang="en-US" sz="1400" dirty="0">
                <a:solidFill>
                  <a:schemeClr val="tx1"/>
                </a:solidFill>
              </a:defRPr>
            </a:lvl1pPr>
          </a:lstStyle>
          <a:p>
            <a:pPr indent="0" marL="0">
              <a:buNone/>
            </a:pPr>
            <a:endParaRPr lang="en-US" sz="1400" dirty="0"/>
          </a:p>
        </p:txBody>
      </p:sp>
      <p:sp>
        <p:nvSpPr>
          <p:cNvPr id="5" name="Text 0"/>
          <p:cNvSpPr txBox="1"/>
          <p:nvPr/>
        </p:nvSpPr>
        <p:spPr>
          <a:xfrm>
            <a:off x="566928" y="6364224"/>
            <a:ext cx="6858000" cy="274320"/>
          </a:xfrm>
          <a:prstGeom prst="rect">
            <a:avLst/>
          </a:prstGeom>
          <a:noFill/>
          <a:ln/>
        </p:spPr>
        <p:txBody>
          <a:bodyPr wrap="square" rtlCol="0" anchor="ctr"/>
          <a:lstStyle/>
          <a:p>
            <a:pPr indent="0" marL="0">
              <a:buNone/>
            </a:pPr>
            <a:r>
              <a:rPr lang="en-US" sz="950" dirty="0">
                <a:solidFill>
                  <a:srgbClr val="5A6378"/>
                </a:solidFill>
              </a:rPr>
              <a:t>Motor Insurance Claim Intake and Triage</a:t>
            </a:r>
            <a:endParaRPr lang="en-US" sz="9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66928" y="1874520"/>
            <a:ext cx="11027664" cy="365760"/>
          </a:xfrm>
          <a:prstGeom prst="rect">
            <a:avLst/>
          </a:prstGeom>
          <a:noFill/>
          <a:ln/>
        </p:spPr>
        <p:txBody>
          <a:bodyPr wrap="square" rtlCol="0"/>
          <a:lstStyle/>
          <a:p>
            <a:pPr algn="l" indent="0" marL="0">
              <a:buNone/>
            </a:pPr>
            <a:r>
              <a:rPr lang="en-US" sz="1400" b="1" spc="300" kern="0" dirty="0">
                <a:solidFill>
                  <a:srgbClr val="E0A458"/>
                </a:solidFill>
              </a:rPr>
              <a:t>UE24AM342AA5  ·  ML SYSTEM DESIGN AND AGENTOPS  ·  MINI PROJECT 01</a:t>
            </a:r>
            <a:endParaRPr lang="en-US" sz="1400" dirty="0"/>
          </a:p>
        </p:txBody>
      </p:sp>
      <p:sp>
        <p:nvSpPr>
          <p:cNvPr id="3" name="Text 0"/>
          <p:cNvSpPr/>
          <p:nvPr>
            <p:ph idx="101" type="title" hasCustomPrompt="1"/>
          </p:nvPr>
        </p:nvSpPr>
        <p:spPr>
          <a:xfrm>
            <a:off x="566928" y="2286000"/>
            <a:ext cx="11027664" cy="1755648"/>
          </a:xfrm>
          <a:prstGeom prst="rect">
            <a:avLst/>
          </a:prstGeom>
          <a:noFill/>
          <a:ln/>
        </p:spPr>
        <p:txBody>
          <a:bodyPr wrap="square" rtlCol="0" anchor="t"/>
          <a:lstStyle/>
          <a:p>
            <a:pPr algn="l" indent="0" marL="0">
              <a:buNone/>
            </a:pPr>
            <a:r>
              <a:rPr lang="en-US" sz="4600" b="1" dirty="0">
                <a:solidFill>
                  <a:schemeClr val="bg1"/>
                </a:solidFill>
              </a:rPr>
              <a:t>Motor Insurance Claim</a:t>
            </a:r>
            <a:endParaRPr lang="en-US" sz="4600" dirty="0"/>
          </a:p>
          <a:p>
            <a:pPr algn="l" indent="0" marL="0">
              <a:buNone/>
            </a:pPr>
            <a:r>
              <a:rPr lang="en-US" sz="4600" b="1" dirty="0">
                <a:solidFill>
                  <a:schemeClr val="bg1"/>
                </a:solidFill>
              </a:rPr>
              <a:t>Intake and Triage</a:t>
            </a:r>
            <a:endParaRPr lang="en-US" sz="4600" dirty="0"/>
          </a:p>
        </p:txBody>
      </p:sp>
      <p:sp>
        <p:nvSpPr>
          <p:cNvPr id="4" name="Text 0"/>
          <p:cNvSpPr/>
          <p:nvPr>
            <p:ph idx="102" type="body" hasCustomPrompt="1"/>
          </p:nvPr>
        </p:nvSpPr>
        <p:spPr>
          <a:xfrm>
            <a:off x="566928" y="3977640"/>
            <a:ext cx="8595360" cy="1371600"/>
          </a:xfrm>
          <a:prstGeom prst="rect">
            <a:avLst/>
          </a:prstGeom>
          <a:noFill/>
          <a:ln/>
        </p:spPr>
        <p:txBody>
          <a:bodyPr wrap="square" rtlCol="0" anchor="t"/>
          <a:lstStyle/>
          <a:p>
            <a:pPr algn="l" indent="0" marL="0">
              <a:buNone/>
            </a:pPr>
            <a:r>
              <a:rPr lang="en-US" sz="1700" dirty="0">
                <a:solidFill>
                  <a:srgbClr val="A7BEAE"/>
                </a:solidFill>
              </a:rPr>
              <a:t>A multi-agent service that reads an insurer's own policy wording, states a coverage position with clause-level citations, and routes the claim — or escalates when it cannot support an answer.</a:t>
            </a:r>
            <a:endParaRPr lang="en-US" sz="1700" dirty="0"/>
          </a:p>
        </p:txBody>
      </p:sp>
      <p:sp>
        <p:nvSpPr>
          <p:cNvPr id="5" name="advisory-card"/>
          <p:cNvSpPr/>
          <p:nvPr/>
        </p:nvSpPr>
        <p:spPr>
          <a:xfrm>
            <a:off x="566928" y="5440680"/>
            <a:ext cx="7406640" cy="713232"/>
          </a:xfrm>
          <a:prstGeom prst="roundRect">
            <a:avLst>
              <a:gd name="adj" fmla="val 10256"/>
            </a:avLst>
          </a:prstGeom>
          <a:solidFill>
            <a:srgbClr val="2E3346"/>
          </a:solidFill>
          <a:ln/>
        </p:spPr>
      </p:sp>
      <p:sp>
        <p:nvSpPr>
          <p:cNvPr id="6" name="advisory-dot"/>
          <p:cNvSpPr/>
          <p:nvPr/>
        </p:nvSpPr>
        <p:spPr>
          <a:xfrm>
            <a:off x="804672" y="5650992"/>
            <a:ext cx="292608" cy="292608"/>
          </a:xfrm>
          <a:prstGeom prst="ellipse">
            <a:avLst/>
          </a:prstGeom>
          <a:solidFill>
            <a:schemeClr val="accent2"/>
          </a:solidFill>
          <a:ln/>
        </p:spPr>
      </p:sp>
      <p:sp>
        <p:nvSpPr>
          <p:cNvPr id="7" name="advisory-bang"/>
          <p:cNvSpPr txBox="1"/>
          <p:nvPr/>
        </p:nvSpPr>
        <p:spPr>
          <a:xfrm>
            <a:off x="804672" y="5650992"/>
            <a:ext cx="292608" cy="292608"/>
          </a:xfrm>
          <a:prstGeom prst="rect">
            <a:avLst/>
          </a:prstGeom>
          <a:noFill/>
          <a:ln/>
        </p:spPr>
        <p:txBody>
          <a:bodyPr wrap="square" lIns="0" tIns="0" rIns="0" bIns="0" rtlCol="0" anchor="ctr"/>
          <a:lstStyle/>
          <a:p>
            <a:pPr algn="ctr" indent="0" marL="0">
              <a:buNone/>
            </a:pPr>
            <a:r>
              <a:rPr lang="en-US" sz="1500" b="1" dirty="0">
                <a:solidFill>
                  <a:srgbClr val="232738"/>
                </a:solidFill>
              </a:rPr>
              <a:t>!</a:t>
            </a:r>
            <a:endParaRPr lang="en-US" sz="1500" dirty="0"/>
          </a:p>
        </p:txBody>
      </p:sp>
      <p:sp>
        <p:nvSpPr>
          <p:cNvPr id="8" name="advisory-text"/>
          <p:cNvSpPr txBox="1"/>
          <p:nvPr/>
        </p:nvSpPr>
        <p:spPr>
          <a:xfrm>
            <a:off x="1225296" y="5440680"/>
            <a:ext cx="6583680" cy="713232"/>
          </a:xfrm>
          <a:prstGeom prst="rect">
            <a:avLst/>
          </a:prstGeom>
          <a:noFill/>
          <a:ln/>
        </p:spPr>
        <p:txBody>
          <a:bodyPr wrap="square" lIns="0" tIns="0" rIns="0" bIns="0" rtlCol="0" anchor="ctr"/>
          <a:lstStyle/>
          <a:p>
            <a:pPr indent="0" marL="0">
              <a:buNone/>
            </a:pPr>
            <a:r>
              <a:rPr lang="en-US" sz="1300" dirty="0">
                <a:solidFill>
                  <a:srgbClr val="EDEFF4"/>
                </a:solidFill>
              </a:rPr>
              <a:t>Advisory only. The system never approves, rejects or values a claim. A human claims handler decides.</a:t>
            </a:r>
            <a:endParaRPr lang="en-US" sz="1300" dirty="0"/>
          </a:p>
        </p:txBody>
      </p:sp>
      <p:sp>
        <p:nvSpPr>
          <p:cNvPr id="9" name="corpus-block"/>
          <p:cNvSpPr txBox="1"/>
          <p:nvPr/>
        </p:nvSpPr>
        <p:spPr>
          <a:xfrm>
            <a:off x="8321040" y="5394960"/>
            <a:ext cx="3291840" cy="1005840"/>
          </a:xfrm>
          <a:prstGeom prst="rect">
            <a:avLst/>
          </a:prstGeom>
          <a:noFill/>
          <a:ln/>
        </p:spPr>
        <p:txBody>
          <a:bodyPr wrap="square" lIns="0" tIns="0" rIns="0" bIns="0" rtlCol="0" anchor="ctr"/>
          <a:lstStyle/>
          <a:p>
            <a:pPr algn="l" indent="0" marL="0">
              <a:lnSpc>
                <a:spcPct val="120000"/>
              </a:lnSpc>
              <a:buNone/>
            </a:pPr>
            <a:r>
              <a:rPr lang="en-US" sz="1000" b="1" spc="200" kern="0" dirty="0">
                <a:solidFill>
                  <a:srgbClr val="E0A458"/>
                </a:solidFill>
              </a:rPr>
              <a:t>Corpus
</a:t>
            </a:r>
            <a:pPr algn="l" indent="0" marL="0">
              <a:lnSpc>
                <a:spcPct val="120000"/>
              </a:lnSpc>
              <a:buNone/>
            </a:pPr>
            <a:r>
              <a:rPr lang="en-US" sz="1150" dirty="0">
                <a:solidFill>
                  <a:srgbClr val="A7BEAE"/>
                </a:solidFill>
              </a:rPr>
              <a:t>ICICI Lombard Private Car Package Policy</a:t>
            </a:r>
            <a:endParaRPr lang="en-US" sz="1000" dirty="0"/>
          </a:p>
          <a:p>
            <a:pPr algn="l" indent="0" marL="0">
              <a:lnSpc>
                <a:spcPct val="120000"/>
              </a:lnSpc>
              <a:buNone/>
            </a:pPr>
            <a:r>
              <a:rPr lang="en-US" sz="1150" dirty="0">
                <a:solidFill>
                  <a:srgbClr val="A7BEAE"/>
                </a:solidFill>
              </a:rPr>
              <a:t>Product 3001 · UIN IRDAN115RP0017V01200102</a:t>
            </a:r>
            <a:endParaRPr lang="en-US" sz="1000" dirty="0"/>
          </a:p>
          <a:p>
            <a:pPr algn="l" indent="0" marL="0">
              <a:lnSpc>
                <a:spcPct val="120000"/>
              </a:lnSpc>
              <a:buNone/>
            </a:pPr>
            <a:r>
              <a:rPr lang="en-US" sz="1150" dirty="0">
                <a:solidFill>
                  <a:srgbClr val="A7BEAE"/>
                </a:solidFill>
              </a:rPr>
              <a:t>46 pages + 8 page claims document · 381 indexed clauses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What a claims handler actually does</a:t>
            </a:r>
            <a:endParaRPr lang="en-US" sz="3200" dirty="0"/>
          </a:p>
        </p:txBody>
      </p:sp>
      <p:sp>
        <p:nvSpPr>
          <p:cNvPr id="3" name="step-0"/>
          <p:cNvSpPr/>
          <p:nvPr/>
        </p:nvSpPr>
        <p:spPr>
          <a:xfrm>
            <a:off x="566928" y="1280160"/>
            <a:ext cx="2578608" cy="1783080"/>
          </a:xfrm>
          <a:prstGeom prst="roundRect">
            <a:avLst>
              <a:gd name="adj" fmla="val 4103"/>
            </a:avLst>
          </a:prstGeom>
          <a:solidFill>
            <a:schemeClr val="bg2"/>
          </a:solidFill>
          <a:ln/>
        </p:spPr>
      </p:sp>
      <p:sp>
        <p:nvSpPr>
          <p:cNvPr id="4" name="step-0-num"/>
          <p:cNvSpPr txBox="1"/>
          <p:nvPr/>
        </p:nvSpPr>
        <p:spPr>
          <a:xfrm>
            <a:off x="804672" y="1463040"/>
            <a:ext cx="914400" cy="457200"/>
          </a:xfrm>
          <a:prstGeom prst="rect">
            <a:avLst/>
          </a:prstGeom>
          <a:noFill/>
          <a:ln/>
        </p:spPr>
        <p:txBody>
          <a:bodyPr wrap="square" lIns="0" tIns="0" rIns="0" bIns="0" rtlCol="0" anchor="ctr"/>
          <a:lstStyle/>
          <a:p>
            <a:pPr indent="0" marL="0">
              <a:buNone/>
            </a:pPr>
            <a:r>
              <a:rPr lang="en-US" sz="2400" b="1" dirty="0">
                <a:solidFill>
                  <a:schemeClr val="accent1"/>
                </a:solidFill>
              </a:rPr>
              <a:t>01</a:t>
            </a:r>
            <a:endParaRPr lang="en-US" sz="2400" dirty="0"/>
          </a:p>
        </p:txBody>
      </p:sp>
      <p:sp>
        <p:nvSpPr>
          <p:cNvPr id="5" name="step-0-head"/>
          <p:cNvSpPr txBox="1"/>
          <p:nvPr/>
        </p:nvSpPr>
        <p:spPr>
          <a:xfrm>
            <a:off x="804672" y="1920240"/>
            <a:ext cx="2103120" cy="310896"/>
          </a:xfrm>
          <a:prstGeom prst="rect">
            <a:avLst/>
          </a:prstGeom>
          <a:noFill/>
          <a:ln/>
        </p:spPr>
        <p:txBody>
          <a:bodyPr wrap="square" lIns="0" tIns="0" rIns="0" bIns="0" rtlCol="0" anchor="ctr"/>
          <a:lstStyle/>
          <a:p>
            <a:pPr indent="0" marL="0">
              <a:buNone/>
            </a:pPr>
            <a:r>
              <a:rPr lang="en-US" sz="1600" b="1" dirty="0">
                <a:solidFill>
                  <a:schemeClr val="tx2"/>
                </a:solidFill>
              </a:rPr>
              <a:t>Check</a:t>
            </a:r>
            <a:endParaRPr lang="en-US" sz="1600" dirty="0"/>
          </a:p>
        </p:txBody>
      </p:sp>
      <p:sp>
        <p:nvSpPr>
          <p:cNvPr id="6" name="step-0-body"/>
          <p:cNvSpPr txBox="1"/>
          <p:nvPr/>
        </p:nvSpPr>
        <p:spPr>
          <a:xfrm>
            <a:off x="804672" y="2249424"/>
            <a:ext cx="2103120" cy="694944"/>
          </a:xfrm>
          <a:prstGeom prst="rect">
            <a:avLst/>
          </a:prstGeom>
          <a:noFill/>
          <a:ln/>
        </p:spPr>
        <p:txBody>
          <a:bodyPr wrap="square" lIns="0" tIns="0" rIns="0" bIns="0" rtlCol="0" anchor="ctr"/>
          <a:lstStyle/>
          <a:p>
            <a:pPr indent="0" marL="0">
              <a:lnSpc>
                <a:spcPct val="112000"/>
              </a:lnSpc>
              <a:buNone/>
            </a:pPr>
            <a:r>
              <a:rPr lang="en-US" sz="1200" dirty="0">
                <a:solidFill>
                  <a:schemeClr val="tx1"/>
                </a:solidFill>
              </a:rPr>
              <a:t>Is the submission complete and internally consistent?</a:t>
            </a:r>
            <a:endParaRPr lang="en-US" sz="1200" dirty="0"/>
          </a:p>
        </p:txBody>
      </p:sp>
      <p:sp>
        <p:nvSpPr>
          <p:cNvPr id="7" name="step-1"/>
          <p:cNvSpPr/>
          <p:nvPr/>
        </p:nvSpPr>
        <p:spPr>
          <a:xfrm>
            <a:off x="3374136" y="1280160"/>
            <a:ext cx="2578608" cy="1783080"/>
          </a:xfrm>
          <a:prstGeom prst="roundRect">
            <a:avLst>
              <a:gd name="adj" fmla="val 4103"/>
            </a:avLst>
          </a:prstGeom>
          <a:solidFill>
            <a:schemeClr val="bg2"/>
          </a:solidFill>
          <a:ln/>
        </p:spPr>
      </p:sp>
      <p:sp>
        <p:nvSpPr>
          <p:cNvPr id="8" name="step-1-num"/>
          <p:cNvSpPr txBox="1"/>
          <p:nvPr/>
        </p:nvSpPr>
        <p:spPr>
          <a:xfrm>
            <a:off x="3611880" y="1463040"/>
            <a:ext cx="914400" cy="457200"/>
          </a:xfrm>
          <a:prstGeom prst="rect">
            <a:avLst/>
          </a:prstGeom>
          <a:noFill/>
          <a:ln/>
        </p:spPr>
        <p:txBody>
          <a:bodyPr wrap="square" lIns="0" tIns="0" rIns="0" bIns="0" rtlCol="0" anchor="ctr"/>
          <a:lstStyle/>
          <a:p>
            <a:pPr indent="0" marL="0">
              <a:buNone/>
            </a:pPr>
            <a:r>
              <a:rPr lang="en-US" sz="2400" b="1" dirty="0">
                <a:solidFill>
                  <a:schemeClr val="accent1"/>
                </a:solidFill>
              </a:rPr>
              <a:t>02</a:t>
            </a:r>
            <a:endParaRPr lang="en-US" sz="2400" dirty="0"/>
          </a:p>
        </p:txBody>
      </p:sp>
      <p:sp>
        <p:nvSpPr>
          <p:cNvPr id="9" name="step-1-head"/>
          <p:cNvSpPr txBox="1"/>
          <p:nvPr/>
        </p:nvSpPr>
        <p:spPr>
          <a:xfrm>
            <a:off x="3611880" y="1920240"/>
            <a:ext cx="2103120" cy="310896"/>
          </a:xfrm>
          <a:prstGeom prst="rect">
            <a:avLst/>
          </a:prstGeom>
          <a:noFill/>
          <a:ln/>
        </p:spPr>
        <p:txBody>
          <a:bodyPr wrap="square" lIns="0" tIns="0" rIns="0" bIns="0" rtlCol="0" anchor="ctr"/>
          <a:lstStyle/>
          <a:p>
            <a:pPr indent="0" marL="0">
              <a:buNone/>
            </a:pPr>
            <a:r>
              <a:rPr lang="en-US" sz="1600" b="1" dirty="0">
                <a:solidFill>
                  <a:schemeClr val="tx2"/>
                </a:solidFill>
              </a:rPr>
              <a:t>Classify</a:t>
            </a:r>
            <a:endParaRPr lang="en-US" sz="1600" dirty="0"/>
          </a:p>
        </p:txBody>
      </p:sp>
      <p:sp>
        <p:nvSpPr>
          <p:cNvPr id="10" name="step-1-body"/>
          <p:cNvSpPr txBox="1"/>
          <p:nvPr/>
        </p:nvSpPr>
        <p:spPr>
          <a:xfrm>
            <a:off x="3611880" y="2249424"/>
            <a:ext cx="2103120" cy="694944"/>
          </a:xfrm>
          <a:prstGeom prst="rect">
            <a:avLst/>
          </a:prstGeom>
          <a:noFill/>
          <a:ln/>
        </p:spPr>
        <p:txBody>
          <a:bodyPr wrap="square" lIns="0" tIns="0" rIns="0" bIns="0" rtlCol="0" anchor="ctr"/>
          <a:lstStyle/>
          <a:p>
            <a:pPr indent="0" marL="0">
              <a:lnSpc>
                <a:spcPct val="112000"/>
              </a:lnSpc>
              <a:buNone/>
            </a:pPr>
            <a:r>
              <a:rPr lang="en-US" sz="1200" dirty="0">
                <a:solidFill>
                  <a:schemeClr val="tx1"/>
                </a:solidFill>
              </a:rPr>
              <a:t>Own damage, third party, theft, or total loss?</a:t>
            </a:r>
            <a:endParaRPr lang="en-US" sz="1200" dirty="0"/>
          </a:p>
        </p:txBody>
      </p:sp>
      <p:sp>
        <p:nvSpPr>
          <p:cNvPr id="11" name="step-2"/>
          <p:cNvSpPr/>
          <p:nvPr/>
        </p:nvSpPr>
        <p:spPr>
          <a:xfrm>
            <a:off x="6181344" y="1280160"/>
            <a:ext cx="2578608" cy="1783080"/>
          </a:xfrm>
          <a:prstGeom prst="roundRect">
            <a:avLst>
              <a:gd name="adj" fmla="val 4103"/>
            </a:avLst>
          </a:prstGeom>
          <a:solidFill>
            <a:schemeClr val="bg2"/>
          </a:solidFill>
          <a:ln/>
        </p:spPr>
      </p:sp>
      <p:sp>
        <p:nvSpPr>
          <p:cNvPr id="12" name="step-2-num"/>
          <p:cNvSpPr txBox="1"/>
          <p:nvPr/>
        </p:nvSpPr>
        <p:spPr>
          <a:xfrm>
            <a:off x="6419088" y="1463040"/>
            <a:ext cx="914400" cy="457200"/>
          </a:xfrm>
          <a:prstGeom prst="rect">
            <a:avLst/>
          </a:prstGeom>
          <a:noFill/>
          <a:ln/>
        </p:spPr>
        <p:txBody>
          <a:bodyPr wrap="square" lIns="0" tIns="0" rIns="0" bIns="0" rtlCol="0" anchor="ctr"/>
          <a:lstStyle/>
          <a:p>
            <a:pPr indent="0" marL="0">
              <a:buNone/>
            </a:pPr>
            <a:r>
              <a:rPr lang="en-US" sz="2400" b="1" dirty="0">
                <a:solidFill>
                  <a:schemeClr val="accent1"/>
                </a:solidFill>
              </a:rPr>
              <a:t>03</a:t>
            </a:r>
            <a:endParaRPr lang="en-US" sz="2400" dirty="0"/>
          </a:p>
        </p:txBody>
      </p:sp>
      <p:sp>
        <p:nvSpPr>
          <p:cNvPr id="13" name="step-2-head"/>
          <p:cNvSpPr txBox="1"/>
          <p:nvPr/>
        </p:nvSpPr>
        <p:spPr>
          <a:xfrm>
            <a:off x="6419088" y="1920240"/>
            <a:ext cx="2103120" cy="310896"/>
          </a:xfrm>
          <a:prstGeom prst="rect">
            <a:avLst/>
          </a:prstGeom>
          <a:noFill/>
          <a:ln/>
        </p:spPr>
        <p:txBody>
          <a:bodyPr wrap="square" lIns="0" tIns="0" rIns="0" bIns="0" rtlCol="0" anchor="ctr"/>
          <a:lstStyle/>
          <a:p>
            <a:pPr indent="0" marL="0">
              <a:buNone/>
            </a:pPr>
            <a:r>
              <a:rPr lang="en-US" sz="1600" b="1" dirty="0">
                <a:solidFill>
                  <a:schemeClr val="tx2"/>
                </a:solidFill>
              </a:rPr>
              <a:t>Look up</a:t>
            </a:r>
            <a:endParaRPr lang="en-US" sz="1600" dirty="0"/>
          </a:p>
        </p:txBody>
      </p:sp>
      <p:sp>
        <p:nvSpPr>
          <p:cNvPr id="14" name="step-2-body"/>
          <p:cNvSpPr txBox="1"/>
          <p:nvPr/>
        </p:nvSpPr>
        <p:spPr>
          <a:xfrm>
            <a:off x="6419088" y="2249424"/>
            <a:ext cx="2103120" cy="694944"/>
          </a:xfrm>
          <a:prstGeom prst="rect">
            <a:avLst/>
          </a:prstGeom>
          <a:noFill/>
          <a:ln/>
        </p:spPr>
        <p:txBody>
          <a:bodyPr wrap="square" lIns="0" tIns="0" rIns="0" bIns="0" rtlCol="0" anchor="ctr"/>
          <a:lstStyle/>
          <a:p>
            <a:pPr indent="0" marL="0">
              <a:lnSpc>
                <a:spcPct val="112000"/>
              </a:lnSpc>
              <a:buNone/>
            </a:pPr>
            <a:r>
              <a:rPr lang="en-US" sz="1200" dirty="0">
                <a:solidFill>
                  <a:schemeClr val="tx1"/>
                </a:solidFill>
              </a:rPr>
              <a:t>What does the policy wording actually say about it?</a:t>
            </a:r>
            <a:endParaRPr lang="en-US" sz="1200" dirty="0"/>
          </a:p>
        </p:txBody>
      </p:sp>
      <p:sp>
        <p:nvSpPr>
          <p:cNvPr id="15" name="step-3"/>
          <p:cNvSpPr/>
          <p:nvPr/>
        </p:nvSpPr>
        <p:spPr>
          <a:xfrm>
            <a:off x="8988552" y="1280160"/>
            <a:ext cx="2578608" cy="1783080"/>
          </a:xfrm>
          <a:prstGeom prst="roundRect">
            <a:avLst>
              <a:gd name="adj" fmla="val 4103"/>
            </a:avLst>
          </a:prstGeom>
          <a:solidFill>
            <a:schemeClr val="bg2"/>
          </a:solidFill>
          <a:ln/>
        </p:spPr>
      </p:sp>
      <p:sp>
        <p:nvSpPr>
          <p:cNvPr id="16" name="step-3-num"/>
          <p:cNvSpPr txBox="1"/>
          <p:nvPr/>
        </p:nvSpPr>
        <p:spPr>
          <a:xfrm>
            <a:off x="9226296" y="1463040"/>
            <a:ext cx="914400" cy="457200"/>
          </a:xfrm>
          <a:prstGeom prst="rect">
            <a:avLst/>
          </a:prstGeom>
          <a:noFill/>
          <a:ln/>
        </p:spPr>
        <p:txBody>
          <a:bodyPr wrap="square" lIns="0" tIns="0" rIns="0" bIns="0" rtlCol="0" anchor="ctr"/>
          <a:lstStyle/>
          <a:p>
            <a:pPr indent="0" marL="0">
              <a:buNone/>
            </a:pPr>
            <a:r>
              <a:rPr lang="en-US" sz="2400" b="1" dirty="0">
                <a:solidFill>
                  <a:schemeClr val="accent1"/>
                </a:solidFill>
              </a:rPr>
              <a:t>04</a:t>
            </a:r>
            <a:endParaRPr lang="en-US" sz="2400" dirty="0"/>
          </a:p>
        </p:txBody>
      </p:sp>
      <p:sp>
        <p:nvSpPr>
          <p:cNvPr id="17" name="step-3-head"/>
          <p:cNvSpPr txBox="1"/>
          <p:nvPr/>
        </p:nvSpPr>
        <p:spPr>
          <a:xfrm>
            <a:off x="9226296" y="1920240"/>
            <a:ext cx="2103120" cy="310896"/>
          </a:xfrm>
          <a:prstGeom prst="rect">
            <a:avLst/>
          </a:prstGeom>
          <a:noFill/>
          <a:ln/>
        </p:spPr>
        <p:txBody>
          <a:bodyPr wrap="square" lIns="0" tIns="0" rIns="0" bIns="0" rtlCol="0" anchor="ctr"/>
          <a:lstStyle/>
          <a:p>
            <a:pPr indent="0" marL="0">
              <a:buNone/>
            </a:pPr>
            <a:r>
              <a:rPr lang="en-US" sz="1600" b="1" dirty="0">
                <a:solidFill>
                  <a:schemeClr val="tx2"/>
                </a:solidFill>
              </a:rPr>
              <a:t>Route</a:t>
            </a:r>
            <a:endParaRPr lang="en-US" sz="1600" dirty="0"/>
          </a:p>
        </p:txBody>
      </p:sp>
      <p:sp>
        <p:nvSpPr>
          <p:cNvPr id="18" name="step-3-body"/>
          <p:cNvSpPr txBox="1"/>
          <p:nvPr/>
        </p:nvSpPr>
        <p:spPr>
          <a:xfrm>
            <a:off x="9226296" y="2249424"/>
            <a:ext cx="2103120" cy="694944"/>
          </a:xfrm>
          <a:prstGeom prst="rect">
            <a:avLst/>
          </a:prstGeom>
          <a:noFill/>
          <a:ln/>
        </p:spPr>
        <p:txBody>
          <a:bodyPr wrap="square" lIns="0" tIns="0" rIns="0" bIns="0" rtlCol="0" anchor="ctr"/>
          <a:lstStyle/>
          <a:p>
            <a:pPr indent="0" marL="0">
              <a:lnSpc>
                <a:spcPct val="112000"/>
              </a:lnSpc>
              <a:buNone/>
            </a:pPr>
            <a:r>
              <a:rPr lang="en-US" sz="1200" dirty="0">
                <a:solidFill>
                  <a:schemeClr val="tx1"/>
                </a:solidFill>
              </a:rPr>
              <a:t>Fast-track, surveyor, or investigation — and why?</a:t>
            </a:r>
            <a:endParaRPr lang="en-US" sz="1200" dirty="0"/>
          </a:p>
        </p:txBody>
      </p:sp>
      <p:sp>
        <p:nvSpPr>
          <p:cNvPr id="19" name="scope-line"/>
          <p:cNvSpPr txBox="1"/>
          <p:nvPr/>
        </p:nvSpPr>
        <p:spPr>
          <a:xfrm>
            <a:off x="566928" y="3310128"/>
            <a:ext cx="11027664" cy="365760"/>
          </a:xfrm>
          <a:prstGeom prst="rect">
            <a:avLst/>
          </a:prstGeom>
          <a:noFill/>
          <a:ln/>
        </p:spPr>
        <p:txBody>
          <a:bodyPr wrap="square" lIns="0" tIns="0" rIns="0" bIns="0" rtlCol="0" anchor="ctr"/>
          <a:lstStyle/>
          <a:p>
            <a:pPr indent="0" marL="0">
              <a:buNone/>
            </a:pPr>
            <a:r>
              <a:rPr lang="en-US" sz="1800" b="1" dirty="0">
                <a:solidFill>
                  <a:schemeClr val="tx2"/>
                </a:solidFill>
              </a:rPr>
              <a:t>This service does the first three and recommends the fourth.</a:t>
            </a:r>
            <a:endParaRPr lang="en-US" sz="1800" dirty="0"/>
          </a:p>
        </p:txBody>
      </p:sp>
      <p:sp>
        <p:nvSpPr>
          <p:cNvPr id="20" name="why-hard"/>
          <p:cNvSpPr/>
          <p:nvPr/>
        </p:nvSpPr>
        <p:spPr>
          <a:xfrm>
            <a:off x="566928" y="3840480"/>
            <a:ext cx="5376672" cy="2057400"/>
          </a:xfrm>
          <a:prstGeom prst="roundRect">
            <a:avLst>
              <a:gd name="adj" fmla="val 3556"/>
            </a:avLst>
          </a:prstGeom>
          <a:solidFill>
            <a:srgbClr val="F7EDEB"/>
          </a:solidFill>
          <a:ln/>
        </p:spPr>
      </p:sp>
      <p:sp>
        <p:nvSpPr>
          <p:cNvPr id="21" name="why-hard-head"/>
          <p:cNvSpPr txBox="1"/>
          <p:nvPr/>
        </p:nvSpPr>
        <p:spPr>
          <a:xfrm>
            <a:off x="841248" y="4041648"/>
            <a:ext cx="4846320" cy="310896"/>
          </a:xfrm>
          <a:prstGeom prst="rect">
            <a:avLst/>
          </a:prstGeom>
          <a:noFill/>
          <a:ln/>
        </p:spPr>
        <p:txBody>
          <a:bodyPr wrap="square" lIns="0" tIns="0" rIns="0" bIns="0" rtlCol="0" anchor="ctr"/>
          <a:lstStyle/>
          <a:p>
            <a:pPr indent="0" marL="0">
              <a:buNone/>
            </a:pPr>
            <a:r>
              <a:rPr lang="en-US" sz="1500" b="1" dirty="0">
                <a:solidFill>
                  <a:schemeClr val="accent6"/>
                </a:solidFill>
              </a:rPr>
              <a:t>Why it is hard to automate</a:t>
            </a:r>
            <a:endParaRPr lang="en-US" sz="1500" dirty="0"/>
          </a:p>
        </p:txBody>
      </p:sp>
      <p:sp>
        <p:nvSpPr>
          <p:cNvPr id="22" name="why-hard-list"/>
          <p:cNvSpPr txBox="1"/>
          <p:nvPr/>
        </p:nvSpPr>
        <p:spPr>
          <a:xfrm>
            <a:off x="841248" y="4389120"/>
            <a:ext cx="4846320" cy="13716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chemeClr val="tx1"/>
                </a:solidFill>
              </a:rPr>
              <a:t>High volume, latency-sensitive, correctness-critical.</a:t>
            </a:r>
            <a:endParaRPr lang="en-US" sz="1250" dirty="0"/>
          </a:p>
          <a:p>
            <a:pPr marL="342900" indent="-342900">
              <a:spcAft>
                <a:spcPts val="600"/>
              </a:spcAft>
              <a:buSzPct val="100000"/>
              <a:buChar char="•"/>
            </a:pPr>
            <a:r>
              <a:rPr lang="en-US" sz="1250" dirty="0">
                <a:solidFill>
                  <a:schemeClr val="tx1"/>
                </a:solidFill>
              </a:rPr>
              <a:t>Getting the coverage position wrong is a regulatory and financial problem.</a:t>
            </a:r>
            <a:endParaRPr lang="en-US" sz="1250" dirty="0"/>
          </a:p>
          <a:p>
            <a:pPr marL="342900" indent="-342900">
              <a:spcAft>
                <a:spcPts val="600"/>
              </a:spcAft>
              <a:buSzPct val="100000"/>
              <a:buChar char="•"/>
            </a:pPr>
            <a:r>
              <a:rPr lang="en-US" sz="1250" dirty="0">
                <a:solidFill>
                  <a:schemeClr val="tx1"/>
                </a:solidFill>
              </a:rPr>
              <a:t>The FNOL is mostly free text, written by someone who has just had an accident.</a:t>
            </a:r>
            <a:endParaRPr lang="en-US" sz="1250" dirty="0"/>
          </a:p>
        </p:txBody>
      </p:sp>
      <p:sp>
        <p:nvSpPr>
          <p:cNvPr id="23" name="second-req"/>
          <p:cNvSpPr/>
          <p:nvPr/>
        </p:nvSpPr>
        <p:spPr>
          <a:xfrm>
            <a:off x="6217920" y="3840480"/>
            <a:ext cx="5376672" cy="2057400"/>
          </a:xfrm>
          <a:prstGeom prst="roundRect">
            <a:avLst>
              <a:gd name="adj" fmla="val 3556"/>
            </a:avLst>
          </a:prstGeom>
          <a:solidFill>
            <a:srgbClr val="EBF1EF"/>
          </a:solidFill>
          <a:ln/>
        </p:spPr>
      </p:sp>
      <p:sp>
        <p:nvSpPr>
          <p:cNvPr id="24" name="second-req-head"/>
          <p:cNvSpPr txBox="1"/>
          <p:nvPr/>
        </p:nvSpPr>
        <p:spPr>
          <a:xfrm>
            <a:off x="6492240" y="4041648"/>
            <a:ext cx="4846320" cy="310896"/>
          </a:xfrm>
          <a:prstGeom prst="rect">
            <a:avLst/>
          </a:prstGeom>
          <a:noFill/>
          <a:ln/>
        </p:spPr>
        <p:txBody>
          <a:bodyPr wrap="square" lIns="0" tIns="0" rIns="0" bIns="0" rtlCol="0" anchor="ctr"/>
          <a:lstStyle/>
          <a:p>
            <a:pPr indent="0" marL="0">
              <a:buNone/>
            </a:pPr>
            <a:r>
              <a:rPr lang="en-US" sz="1500" b="1" dirty="0">
                <a:solidFill>
                  <a:schemeClr val="accent3"/>
                </a:solidFill>
              </a:rPr>
              <a:t>And a second requirement, less obvious</a:t>
            </a:r>
            <a:endParaRPr lang="en-US" sz="1500" dirty="0"/>
          </a:p>
        </p:txBody>
      </p:sp>
      <p:sp>
        <p:nvSpPr>
          <p:cNvPr id="25" name="second-req-body"/>
          <p:cNvSpPr txBox="1"/>
          <p:nvPr/>
        </p:nvSpPr>
        <p:spPr>
          <a:xfrm>
            <a:off x="6492240" y="4389120"/>
            <a:ext cx="4846320" cy="1371600"/>
          </a:xfrm>
          <a:prstGeom prst="rect">
            <a:avLst/>
          </a:prstGeom>
          <a:noFill/>
          <a:ln/>
        </p:spPr>
        <p:txBody>
          <a:bodyPr wrap="square" lIns="0" tIns="0" rIns="0" bIns="0" rtlCol="0" anchor="ctr"/>
          <a:lstStyle/>
          <a:p>
            <a:pPr indent="0" marL="0">
              <a:lnSpc>
                <a:spcPct val="114000"/>
              </a:lnSpc>
              <a:buNone/>
            </a:pPr>
            <a:r>
              <a:rPr lang="en-US" sz="1300" dirty="0">
                <a:solidFill>
                  <a:schemeClr val="tx1"/>
                </a:solidFill>
              </a:rPr>
              <a:t>A system that always answers is easy to build. One that knows when not to answer is not.</a:t>
            </a:r>
            <a:endParaRPr lang="en-US" sz="1300" dirty="0"/>
          </a:p>
          <a:p>
            <a:pPr indent="0" marL="0">
              <a:lnSpc>
                <a:spcPct val="114000"/>
              </a:lnSpc>
              <a:buNone/>
            </a:pPr>
            <a:endParaRPr lang="en-US" sz="1300" dirty="0"/>
          </a:p>
          <a:p>
            <a:pPr indent="0" marL="0">
              <a:lnSpc>
                <a:spcPct val="114000"/>
              </a:lnSpc>
              <a:buNone/>
            </a:pPr>
            <a:r>
              <a:rPr lang="en-US" sz="1300" dirty="0">
                <a:solidFill>
                  <a:schemeClr val="tx1"/>
                </a:solidFill>
              </a:rPr>
              <a:t>Everything in this design that looks like over-engineering exists to make the second kind possible.</a:t>
            </a:r>
            <a:endParaRPr lang="en-US" sz="1300" dirty="0"/>
          </a:p>
        </p:txBody>
      </p:sp>
      <p:sp>
        <p:nvSpPr>
          <p:cNvPr id="27"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bg1"/>
                </a:solidFill>
              </a:rPr>
              <a:t>One sentence, three clauses, two chapters apart</a:t>
            </a:r>
            <a:endParaRPr lang="en-US" sz="3200" dirty="0"/>
          </a:p>
        </p:txBody>
      </p:sp>
      <p:sp>
        <p:nvSpPr>
          <p:cNvPr id="3" name="quote-band"/>
          <p:cNvSpPr/>
          <p:nvPr/>
        </p:nvSpPr>
        <p:spPr>
          <a:xfrm>
            <a:off x="566928" y="1115568"/>
            <a:ext cx="11027664" cy="749808"/>
          </a:xfrm>
          <a:prstGeom prst="roundRect">
            <a:avLst>
              <a:gd name="adj" fmla="val 9756"/>
            </a:avLst>
          </a:prstGeom>
          <a:solidFill>
            <a:srgbClr val="3A2F2E"/>
          </a:solidFill>
          <a:ln/>
        </p:spPr>
      </p:sp>
      <p:sp>
        <p:nvSpPr>
          <p:cNvPr id="4" name="the-sentence"/>
          <p:cNvSpPr txBox="1"/>
          <p:nvPr/>
        </p:nvSpPr>
        <p:spPr>
          <a:xfrm>
            <a:off x="877824" y="1115568"/>
            <a:ext cx="10405872" cy="749808"/>
          </a:xfrm>
          <a:prstGeom prst="rect">
            <a:avLst/>
          </a:prstGeom>
          <a:noFill/>
          <a:ln/>
        </p:spPr>
        <p:txBody>
          <a:bodyPr wrap="square" lIns="0" tIns="0" rIns="0" bIns="0" rtlCol="0" anchor="ctr"/>
          <a:lstStyle/>
          <a:p>
            <a:pPr indent="0" marL="0">
              <a:buNone/>
            </a:pPr>
            <a:r>
              <a:rPr lang="en-US" sz="1900" i="1" dirty="0">
                <a:solidFill>
                  <a:srgbClr val="F3E3DF"/>
                </a:solidFill>
              </a:rPr>
              <a:t>“I was making a food delivery run in my own car when the accident happened.”</a:t>
            </a:r>
            <a:endParaRPr lang="en-US" sz="1900" dirty="0"/>
          </a:p>
        </p:txBody>
      </p:sp>
      <p:sp>
        <p:nvSpPr>
          <p:cNvPr id="5" name="c1-card"/>
          <p:cNvSpPr/>
          <p:nvPr/>
        </p:nvSpPr>
        <p:spPr>
          <a:xfrm>
            <a:off x="566928" y="2011680"/>
            <a:ext cx="3566160" cy="2286000"/>
          </a:xfrm>
          <a:prstGeom prst="roundRect">
            <a:avLst>
              <a:gd name="adj" fmla="val 3200"/>
            </a:avLst>
          </a:prstGeom>
          <a:solidFill>
            <a:srgbClr val="2E3346"/>
          </a:solidFill>
          <a:ln/>
        </p:spPr>
      </p:sp>
      <p:sp>
        <p:nvSpPr>
          <p:cNvPr id="6" name="c1-roletag"/>
          <p:cNvSpPr/>
          <p:nvPr/>
        </p:nvSpPr>
        <p:spPr>
          <a:xfrm>
            <a:off x="822960" y="2231136"/>
            <a:ext cx="1298448" cy="274320"/>
          </a:xfrm>
          <a:prstGeom prst="roundRect">
            <a:avLst>
              <a:gd name="adj" fmla="val 46667"/>
            </a:avLst>
          </a:prstGeom>
          <a:solidFill>
            <a:srgbClr val="3F7D6E"/>
          </a:solidFill>
          <a:ln/>
        </p:spPr>
      </p:sp>
      <p:sp>
        <p:nvSpPr>
          <p:cNvPr id="7" name="c1-rolelabel"/>
          <p:cNvSpPr txBox="1"/>
          <p:nvPr/>
        </p:nvSpPr>
        <p:spPr>
          <a:xfrm>
            <a:off x="822960" y="2231136"/>
            <a:ext cx="1298448"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rPr>
              <a:t>GRANT</a:t>
            </a:r>
            <a:endParaRPr lang="en-US" sz="950" dirty="0"/>
          </a:p>
        </p:txBody>
      </p:sp>
      <p:sp>
        <p:nvSpPr>
          <p:cNvPr id="8" name="c1-where"/>
          <p:cNvSpPr txBox="1"/>
          <p:nvPr/>
        </p:nvSpPr>
        <p:spPr>
          <a:xfrm>
            <a:off x="822960" y="2560320"/>
            <a:ext cx="3054096" cy="274320"/>
          </a:xfrm>
          <a:prstGeom prst="rect">
            <a:avLst/>
          </a:prstGeom>
          <a:noFill/>
          <a:ln/>
        </p:spPr>
        <p:txBody>
          <a:bodyPr wrap="square" lIns="0" tIns="0" rIns="0" bIns="0" rtlCol="0" anchor="ctr"/>
          <a:lstStyle/>
          <a:p>
            <a:pPr indent="0" marL="0">
              <a:buNone/>
            </a:pPr>
            <a:r>
              <a:rPr lang="en-US" sz="1150" b="1" dirty="0">
                <a:solidFill>
                  <a:srgbClr val="A7BEAE"/>
                </a:solidFill>
              </a:rPr>
              <a:t>Chapter 1, Section I  ·  page 1</a:t>
            </a:r>
            <a:endParaRPr lang="en-US" sz="1150" dirty="0"/>
          </a:p>
        </p:txBody>
      </p:sp>
      <p:sp>
        <p:nvSpPr>
          <p:cNvPr id="9" name="c1-quote"/>
          <p:cNvSpPr txBox="1"/>
          <p:nvPr/>
        </p:nvSpPr>
        <p:spPr>
          <a:xfrm>
            <a:off x="822960" y="2889504"/>
            <a:ext cx="3054096" cy="1188720"/>
          </a:xfrm>
          <a:prstGeom prst="rect">
            <a:avLst/>
          </a:prstGeom>
          <a:noFill/>
          <a:ln/>
        </p:spPr>
        <p:txBody>
          <a:bodyPr wrap="square" lIns="0" tIns="0" rIns="0" bIns="0" rtlCol="0" anchor="ctr"/>
          <a:lstStyle/>
          <a:p>
            <a:pPr indent="0" marL="0">
              <a:lnSpc>
                <a:spcPct val="114000"/>
              </a:lnSpc>
              <a:buNone/>
            </a:pPr>
            <a:r>
              <a:rPr lang="en-US" sz="1300" i="1" dirty="0">
                <a:solidFill>
                  <a:srgbClr val="EDEFF4"/>
                </a:solidFill>
              </a:rPr>
              <a:t>“The Company will indemnify the insured against loss or damage to the vehicle insured … by accidental external means.”</a:t>
            </a:r>
            <a:endParaRPr lang="en-US" sz="1300" dirty="0"/>
          </a:p>
        </p:txBody>
      </p:sp>
      <p:sp>
        <p:nvSpPr>
          <p:cNvPr id="10" name="c2-card"/>
          <p:cNvSpPr/>
          <p:nvPr/>
        </p:nvSpPr>
        <p:spPr>
          <a:xfrm>
            <a:off x="4297680" y="2011680"/>
            <a:ext cx="3566160" cy="2286000"/>
          </a:xfrm>
          <a:prstGeom prst="roundRect">
            <a:avLst>
              <a:gd name="adj" fmla="val 3200"/>
            </a:avLst>
          </a:prstGeom>
          <a:solidFill>
            <a:srgbClr val="2E3346"/>
          </a:solidFill>
          <a:ln/>
        </p:spPr>
      </p:sp>
      <p:sp>
        <p:nvSpPr>
          <p:cNvPr id="11" name="c2-roletag"/>
          <p:cNvSpPr/>
          <p:nvPr/>
        </p:nvSpPr>
        <p:spPr>
          <a:xfrm>
            <a:off x="4553712" y="2231136"/>
            <a:ext cx="1298448" cy="274320"/>
          </a:xfrm>
          <a:prstGeom prst="roundRect">
            <a:avLst>
              <a:gd name="adj" fmla="val 46667"/>
            </a:avLst>
          </a:prstGeom>
          <a:solidFill>
            <a:srgbClr val="B85042"/>
          </a:solidFill>
          <a:ln/>
        </p:spPr>
      </p:sp>
      <p:sp>
        <p:nvSpPr>
          <p:cNvPr id="12" name="c2-rolelabel"/>
          <p:cNvSpPr txBox="1"/>
          <p:nvPr/>
        </p:nvSpPr>
        <p:spPr>
          <a:xfrm>
            <a:off x="4553712" y="2231136"/>
            <a:ext cx="1298448"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rPr>
              <a:t>RESTRICTION</a:t>
            </a:r>
            <a:endParaRPr lang="en-US" sz="950" dirty="0"/>
          </a:p>
        </p:txBody>
      </p:sp>
      <p:sp>
        <p:nvSpPr>
          <p:cNvPr id="13" name="c2-where"/>
          <p:cNvSpPr txBox="1"/>
          <p:nvPr/>
        </p:nvSpPr>
        <p:spPr>
          <a:xfrm>
            <a:off x="4553712" y="2560320"/>
            <a:ext cx="3054096" cy="274320"/>
          </a:xfrm>
          <a:prstGeom prst="rect">
            <a:avLst/>
          </a:prstGeom>
          <a:noFill/>
          <a:ln/>
        </p:spPr>
        <p:txBody>
          <a:bodyPr wrap="square" lIns="0" tIns="0" rIns="0" bIns="0" rtlCol="0" anchor="ctr"/>
          <a:lstStyle/>
          <a:p>
            <a:pPr indent="0" marL="0">
              <a:buNone/>
            </a:pPr>
            <a:r>
              <a:rPr lang="en-US" sz="1150" b="1" dirty="0">
                <a:solidFill>
                  <a:srgbClr val="A7BEAE"/>
                </a:solidFill>
              </a:rPr>
              <a:t>Chapter 4  ·  page 19</a:t>
            </a:r>
            <a:endParaRPr lang="en-US" sz="1150" dirty="0"/>
          </a:p>
        </p:txBody>
      </p:sp>
      <p:sp>
        <p:nvSpPr>
          <p:cNvPr id="14" name="c2-quote"/>
          <p:cNvSpPr txBox="1"/>
          <p:nvPr/>
        </p:nvSpPr>
        <p:spPr>
          <a:xfrm>
            <a:off x="4553712" y="2889504"/>
            <a:ext cx="3054096" cy="1188720"/>
          </a:xfrm>
          <a:prstGeom prst="rect">
            <a:avLst/>
          </a:prstGeom>
          <a:noFill/>
          <a:ln/>
        </p:spPr>
        <p:txBody>
          <a:bodyPr wrap="square" lIns="0" tIns="0" rIns="0" bIns="0" rtlCol="0" anchor="ctr"/>
          <a:lstStyle/>
          <a:p>
            <a:pPr indent="0" marL="0">
              <a:lnSpc>
                <a:spcPct val="114000"/>
              </a:lnSpc>
              <a:buNone/>
            </a:pPr>
            <a:r>
              <a:rPr lang="en-US" sz="1300" i="1" dirty="0">
                <a:solidFill>
                  <a:srgbClr val="EDEFF4"/>
                </a:solidFill>
              </a:rPr>
              <a:t>“The Policy covers use of the vehicle for any purpose other than: Hire or Reward, Carriage of goods …”</a:t>
            </a:r>
            <a:endParaRPr lang="en-US" sz="1300" dirty="0"/>
          </a:p>
        </p:txBody>
      </p:sp>
      <p:sp>
        <p:nvSpPr>
          <p:cNvPr id="15" name="c3-card"/>
          <p:cNvSpPr/>
          <p:nvPr/>
        </p:nvSpPr>
        <p:spPr>
          <a:xfrm>
            <a:off x="8028432" y="2011680"/>
            <a:ext cx="3566160" cy="2286000"/>
          </a:xfrm>
          <a:prstGeom prst="roundRect">
            <a:avLst>
              <a:gd name="adj" fmla="val 3200"/>
            </a:avLst>
          </a:prstGeom>
          <a:solidFill>
            <a:srgbClr val="2E3346"/>
          </a:solidFill>
          <a:ln/>
        </p:spPr>
      </p:sp>
      <p:sp>
        <p:nvSpPr>
          <p:cNvPr id="16" name="c3-roletag"/>
          <p:cNvSpPr/>
          <p:nvPr/>
        </p:nvSpPr>
        <p:spPr>
          <a:xfrm>
            <a:off x="8284464" y="2231136"/>
            <a:ext cx="1298448" cy="274320"/>
          </a:xfrm>
          <a:prstGeom prst="roundRect">
            <a:avLst>
              <a:gd name="adj" fmla="val 46667"/>
            </a:avLst>
          </a:prstGeom>
          <a:solidFill>
            <a:srgbClr val="E0A458"/>
          </a:solidFill>
          <a:ln/>
        </p:spPr>
      </p:sp>
      <p:sp>
        <p:nvSpPr>
          <p:cNvPr id="17" name="c3-rolelabel"/>
          <p:cNvSpPr txBox="1"/>
          <p:nvPr/>
        </p:nvSpPr>
        <p:spPr>
          <a:xfrm>
            <a:off x="8284464" y="2231136"/>
            <a:ext cx="1298448"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rPr>
              <a:t>THE BRIDGE</a:t>
            </a:r>
            <a:endParaRPr lang="en-US" sz="950" dirty="0"/>
          </a:p>
        </p:txBody>
      </p:sp>
      <p:sp>
        <p:nvSpPr>
          <p:cNvPr id="18" name="c3-where"/>
          <p:cNvSpPr txBox="1"/>
          <p:nvPr/>
        </p:nvSpPr>
        <p:spPr>
          <a:xfrm>
            <a:off x="8284464" y="2560320"/>
            <a:ext cx="3054096" cy="274320"/>
          </a:xfrm>
          <a:prstGeom prst="rect">
            <a:avLst/>
          </a:prstGeom>
          <a:noFill/>
          <a:ln/>
        </p:spPr>
        <p:txBody>
          <a:bodyPr wrap="square" lIns="0" tIns="0" rIns="0" bIns="0" rtlCol="0" anchor="ctr"/>
          <a:lstStyle/>
          <a:p>
            <a:pPr indent="0" marL="0">
              <a:buNone/>
            </a:pPr>
            <a:r>
              <a:rPr lang="en-US" sz="1150" b="1" dirty="0">
                <a:solidFill>
                  <a:srgbClr val="A7BEAE"/>
                </a:solidFill>
              </a:rPr>
              <a:t>Chapter 2, Gen. Exc. III(a)  ·  page 3</a:t>
            </a:r>
            <a:endParaRPr lang="en-US" sz="1150" dirty="0"/>
          </a:p>
        </p:txBody>
      </p:sp>
      <p:sp>
        <p:nvSpPr>
          <p:cNvPr id="19" name="c3-quote"/>
          <p:cNvSpPr txBox="1"/>
          <p:nvPr/>
        </p:nvSpPr>
        <p:spPr>
          <a:xfrm>
            <a:off x="8284464" y="2889504"/>
            <a:ext cx="3054096" cy="1188720"/>
          </a:xfrm>
          <a:prstGeom prst="rect">
            <a:avLst/>
          </a:prstGeom>
          <a:noFill/>
          <a:ln/>
        </p:spPr>
        <p:txBody>
          <a:bodyPr wrap="square" lIns="0" tIns="0" rIns="0" bIns="0" rtlCol="0" anchor="ctr"/>
          <a:lstStyle/>
          <a:p>
            <a:pPr indent="0" marL="0">
              <a:lnSpc>
                <a:spcPct val="114000"/>
              </a:lnSpc>
              <a:buNone/>
            </a:pPr>
            <a:r>
              <a:rPr lang="en-US" sz="1300" i="1" dirty="0">
                <a:solidFill>
                  <a:srgbClr val="EDEFF4"/>
                </a:solidFill>
              </a:rPr>
              <a:t>“… shall not be liable … whilst the vehicle is being used otherwise than in accordance with the ‘Limitations as to Use’.”</a:t>
            </a:r>
            <a:endParaRPr lang="en-US" sz="1300" dirty="0"/>
          </a:p>
        </p:txBody>
      </p:sp>
      <p:sp>
        <p:nvSpPr>
          <p:cNvPr id="20" name="c1-note"/>
          <p:cNvSpPr txBox="1"/>
          <p:nvPr/>
        </p:nvSpPr>
        <p:spPr>
          <a:xfrm>
            <a:off x="566928" y="4334256"/>
            <a:ext cx="3566160" cy="274320"/>
          </a:xfrm>
          <a:prstGeom prst="rect">
            <a:avLst/>
          </a:prstGeom>
          <a:noFill/>
          <a:ln/>
        </p:spPr>
        <p:txBody>
          <a:bodyPr wrap="square" lIns="0" tIns="0" rIns="0" bIns="0" rtlCol="0" anchor="ctr"/>
          <a:lstStyle/>
          <a:p>
            <a:pPr algn="ctr" indent="0" marL="0">
              <a:buNone/>
            </a:pPr>
            <a:r>
              <a:rPr lang="en-US" sz="1100" dirty="0">
                <a:solidFill>
                  <a:srgbClr val="8FA3B8"/>
                </a:solidFill>
              </a:rPr>
              <a:t>Retrieved by any search</a:t>
            </a:r>
            <a:endParaRPr lang="en-US" sz="1100" dirty="0"/>
          </a:p>
        </p:txBody>
      </p:sp>
      <p:sp>
        <p:nvSpPr>
          <p:cNvPr id="21" name="c2-note"/>
          <p:cNvSpPr txBox="1"/>
          <p:nvPr/>
        </p:nvSpPr>
        <p:spPr>
          <a:xfrm>
            <a:off x="4297680" y="4334256"/>
            <a:ext cx="3566160" cy="274320"/>
          </a:xfrm>
          <a:prstGeom prst="rect">
            <a:avLst/>
          </a:prstGeom>
          <a:noFill/>
          <a:ln/>
        </p:spPr>
        <p:txBody>
          <a:bodyPr wrap="square" lIns="0" tIns="0" rIns="0" bIns="0" rtlCol="0" anchor="ctr"/>
          <a:lstStyle/>
          <a:p>
            <a:pPr algn="ctr" indent="0" marL="0">
              <a:buNone/>
            </a:pPr>
            <a:r>
              <a:rPr lang="en-US" sz="1100" dirty="0">
                <a:solidFill>
                  <a:srgbClr val="8FA3B8"/>
                </a:solidFill>
              </a:rPr>
              <a:t>Shares almost no words with the claim</a:t>
            </a:r>
            <a:endParaRPr lang="en-US" sz="1100" dirty="0"/>
          </a:p>
        </p:txBody>
      </p:sp>
      <p:sp>
        <p:nvSpPr>
          <p:cNvPr id="22" name="c3-note"/>
          <p:cNvSpPr txBox="1"/>
          <p:nvPr/>
        </p:nvSpPr>
        <p:spPr>
          <a:xfrm>
            <a:off x="8028432" y="4334256"/>
            <a:ext cx="3566160" cy="274320"/>
          </a:xfrm>
          <a:prstGeom prst="rect">
            <a:avLst/>
          </a:prstGeom>
          <a:noFill/>
          <a:ln/>
        </p:spPr>
        <p:txBody>
          <a:bodyPr wrap="square" lIns="0" tIns="0" rIns="0" bIns="0" rtlCol="0" anchor="ctr"/>
          <a:lstStyle/>
          <a:p>
            <a:pPr algn="ctr" indent="0" marL="0">
              <a:buNone/>
            </a:pPr>
            <a:r>
              <a:rPr lang="en-US" sz="1100" dirty="0">
                <a:solidFill>
                  <a:srgbClr val="8FA3B8"/>
                </a:solidFill>
              </a:rPr>
              <a:t>Names the restriction — the way in</a:t>
            </a:r>
            <a:endParaRPr lang="en-US" sz="1100" dirty="0"/>
          </a:p>
        </p:txBody>
      </p:sp>
      <p:sp>
        <p:nvSpPr>
          <p:cNvPr id="23" name="sofar"/>
          <p:cNvSpPr/>
          <p:nvPr/>
        </p:nvSpPr>
        <p:spPr>
          <a:xfrm>
            <a:off x="566928" y="4791456"/>
            <a:ext cx="11027664" cy="1316736"/>
          </a:xfrm>
          <a:prstGeom prst="roundRect">
            <a:avLst>
              <a:gd name="adj" fmla="val 5556"/>
            </a:avLst>
          </a:prstGeom>
          <a:solidFill>
            <a:srgbClr val="2E3346"/>
          </a:solidFill>
          <a:ln/>
        </p:spPr>
      </p:sp>
      <p:sp>
        <p:nvSpPr>
          <p:cNvPr id="24" name="sofar-head"/>
          <p:cNvSpPr txBox="1"/>
          <p:nvPr/>
        </p:nvSpPr>
        <p:spPr>
          <a:xfrm>
            <a:off x="877824" y="4956048"/>
            <a:ext cx="10405872" cy="310896"/>
          </a:xfrm>
          <a:prstGeom prst="rect">
            <a:avLst/>
          </a:prstGeom>
          <a:noFill/>
          <a:ln/>
        </p:spPr>
        <p:txBody>
          <a:bodyPr wrap="square" lIns="0" tIns="0" rIns="0" bIns="0" rtlCol="0" anchor="ctr"/>
          <a:lstStyle/>
          <a:p>
            <a:pPr indent="0" marL="0">
              <a:buNone/>
            </a:pPr>
            <a:r>
              <a:rPr lang="en-US" sz="1500" b="1" dirty="0">
                <a:solidFill>
                  <a:srgbClr val="FFFFFF"/>
                </a:solidFill>
              </a:rPr>
              <a:t>The restriction does not contain the words accident, damage, bumper, claim, cover, delivery or food.</a:t>
            </a:r>
            <a:endParaRPr lang="en-US" sz="1500" dirty="0"/>
          </a:p>
        </p:txBody>
      </p:sp>
      <p:sp>
        <p:nvSpPr>
          <p:cNvPr id="25" name="sofar-body"/>
          <p:cNvSpPr txBox="1"/>
          <p:nvPr/>
        </p:nvSpPr>
        <p:spPr>
          <a:xfrm>
            <a:off x="877824" y="5303520"/>
            <a:ext cx="10405872" cy="658368"/>
          </a:xfrm>
          <a:prstGeom prst="rect">
            <a:avLst/>
          </a:prstGeom>
          <a:noFill/>
          <a:ln/>
        </p:spPr>
        <p:txBody>
          <a:bodyPr wrap="square" lIns="0" tIns="0" rIns="0" bIns="0" rtlCol="0" anchor="ctr"/>
          <a:lstStyle/>
          <a:p>
            <a:pPr indent="0" marL="0">
              <a:lnSpc>
                <a:spcPct val="110000"/>
              </a:lnSpc>
              <a:buNone/>
            </a:pPr>
            <a:r>
              <a:rPr lang="en-US" sz="1300" dirty="0">
                <a:solidFill>
                  <a:srgbClr val="C2C8D6"/>
                </a:solidFill>
              </a:rPr>
              <a:t>It shares exactly one content word with the request — and it does not even use that word. No phrasing of the customer's sentence has an embedding that lands near it. This is not a tuning problem; it is structural.</a:t>
            </a:r>
            <a:endParaRPr lang="en-US" sz="1300" dirty="0"/>
          </a:p>
        </p:txBody>
      </p:sp>
      <p:sp>
        <p:nvSpPr>
          <p:cNvPr id="27"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E768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Why retrieve-then-answer gets this wrong</a:t>
            </a:r>
            <a:endParaRPr lang="en-US" sz="3200" dirty="0"/>
          </a:p>
        </p:txBody>
      </p:sp>
      <p:sp>
        <p:nvSpPr>
          <p:cNvPr id="3" name="naive"/>
          <p:cNvSpPr/>
          <p:nvPr/>
        </p:nvSpPr>
        <p:spPr>
          <a:xfrm>
            <a:off x="566928" y="1225296"/>
            <a:ext cx="5358384" cy="2286000"/>
          </a:xfrm>
          <a:prstGeom prst="roundRect">
            <a:avLst>
              <a:gd name="adj" fmla="val 3200"/>
            </a:avLst>
          </a:prstGeom>
          <a:solidFill>
            <a:srgbClr val="F7EDEB"/>
          </a:solidFill>
          <a:ln/>
        </p:spPr>
      </p:sp>
      <p:sp>
        <p:nvSpPr>
          <p:cNvPr id="4" name="naive-head"/>
          <p:cNvSpPr txBox="1"/>
          <p:nvPr/>
        </p:nvSpPr>
        <p:spPr>
          <a:xfrm>
            <a:off x="841248" y="1426464"/>
            <a:ext cx="4809744" cy="329184"/>
          </a:xfrm>
          <a:prstGeom prst="rect">
            <a:avLst/>
          </a:prstGeom>
          <a:noFill/>
          <a:ln/>
        </p:spPr>
        <p:txBody>
          <a:bodyPr wrap="square" lIns="0" tIns="0" rIns="0" bIns="0" rtlCol="0" anchor="ctr"/>
          <a:lstStyle/>
          <a:p>
            <a:pPr indent="0" marL="0">
              <a:buNone/>
            </a:pPr>
            <a:r>
              <a:rPr lang="en-US" sz="1700" b="1" dirty="0">
                <a:solidFill>
                  <a:schemeClr val="accent6"/>
                </a:solidFill>
              </a:rPr>
              <a:t>Retrieve → answer</a:t>
            </a:r>
            <a:endParaRPr lang="en-US" sz="1700" dirty="0"/>
          </a:p>
        </p:txBody>
      </p:sp>
      <p:sp>
        <p:nvSpPr>
          <p:cNvPr id="5" name="naive-list"/>
          <p:cNvSpPr txBox="1"/>
          <p:nvPr/>
        </p:nvSpPr>
        <p:spPr>
          <a:xfrm>
            <a:off x="841248" y="1810512"/>
            <a:ext cx="4809744" cy="1572768"/>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chemeClr val="tx1"/>
                </a:solidFill>
              </a:rPr>
              <a:t>Embed the request</a:t>
            </a:r>
            <a:endParaRPr lang="en-US" sz="1350" dirty="0"/>
          </a:p>
          <a:p>
            <a:pPr marL="342900" indent="-342900">
              <a:spcAft>
                <a:spcPts val="700"/>
              </a:spcAft>
              <a:buSzPct val="100000"/>
              <a:buChar char="•"/>
            </a:pPr>
            <a:r>
              <a:rPr lang="en-US" sz="1350" dirty="0">
                <a:solidFill>
                  <a:schemeClr val="tx1"/>
                </a:solidFill>
              </a:rPr>
              <a:t>Retrieve the highest-scoring passages</a:t>
            </a:r>
            <a:endParaRPr lang="en-US" sz="1350" dirty="0"/>
          </a:p>
          <a:p>
            <a:pPr marL="342900" indent="-342900">
              <a:spcAft>
                <a:spcPts val="700"/>
              </a:spcAft>
              <a:buSzPct val="100000"/>
              <a:buChar char="•"/>
            </a:pPr>
            <a:r>
              <a:rPr lang="en-US" sz="1350" dirty="0">
                <a:solidFill>
                  <a:schemeClr val="tx1"/>
                </a:solidFill>
              </a:rPr>
              <a:t>Ask the model to answer from them</a:t>
            </a:r>
            <a:endParaRPr lang="en-US" sz="1350" dirty="0"/>
          </a:p>
          <a:p>
            <a:pPr marL="342900" indent="-342900">
              <a:spcAft>
                <a:spcPts val="700"/>
              </a:spcAft>
              <a:buSzPct val="100000"/>
              <a:buChar char="•"/>
            </a:pPr>
            <a:r>
              <a:rPr lang="en-US" sz="1350" b="1" dirty="0">
                <a:solidFill>
                  <a:srgbClr val="8C3B30"/>
                </a:solidFill>
              </a:rPr>
              <a:t>Returns the own-damage grant. Says “covered”.</a:t>
            </a:r>
            <a:endParaRPr lang="en-US" sz="1350" dirty="0"/>
          </a:p>
        </p:txBody>
      </p:sp>
      <p:sp>
        <p:nvSpPr>
          <p:cNvPr id="6" name="agentic"/>
          <p:cNvSpPr/>
          <p:nvPr/>
        </p:nvSpPr>
        <p:spPr>
          <a:xfrm>
            <a:off x="6236208" y="1225296"/>
            <a:ext cx="5358384" cy="2286000"/>
          </a:xfrm>
          <a:prstGeom prst="roundRect">
            <a:avLst>
              <a:gd name="adj" fmla="val 3200"/>
            </a:avLst>
          </a:prstGeom>
          <a:solidFill>
            <a:srgbClr val="EBF1EF"/>
          </a:solidFill>
          <a:ln/>
        </p:spPr>
      </p:sp>
      <p:sp>
        <p:nvSpPr>
          <p:cNvPr id="7" name="agentic-head"/>
          <p:cNvSpPr txBox="1"/>
          <p:nvPr/>
        </p:nvSpPr>
        <p:spPr>
          <a:xfrm>
            <a:off x="6510528" y="1426464"/>
            <a:ext cx="4809744" cy="329184"/>
          </a:xfrm>
          <a:prstGeom prst="rect">
            <a:avLst/>
          </a:prstGeom>
          <a:noFill/>
          <a:ln/>
        </p:spPr>
        <p:txBody>
          <a:bodyPr wrap="square" lIns="0" tIns="0" rIns="0" bIns="0" rtlCol="0" anchor="ctr"/>
          <a:lstStyle/>
          <a:p>
            <a:pPr indent="0" marL="0">
              <a:buNone/>
            </a:pPr>
            <a:r>
              <a:rPr lang="en-US" sz="1700" b="1" dirty="0">
                <a:solidFill>
                  <a:schemeClr val="accent3"/>
                </a:solidFill>
              </a:rPr>
              <a:t>What an agent has to do instead</a:t>
            </a:r>
            <a:endParaRPr lang="en-US" sz="1700" dirty="0"/>
          </a:p>
        </p:txBody>
      </p:sp>
      <p:sp>
        <p:nvSpPr>
          <p:cNvPr id="8" name="agentic-list"/>
          <p:cNvSpPr txBox="1"/>
          <p:nvPr/>
        </p:nvSpPr>
        <p:spPr>
          <a:xfrm>
            <a:off x="6510528" y="1810512"/>
            <a:ext cx="4809744" cy="1572768"/>
          </a:xfrm>
          <a:prstGeom prst="rect">
            <a:avLst/>
          </a:prstGeom>
          <a:noFill/>
          <a:ln/>
        </p:spPr>
        <p:txBody>
          <a:bodyPr wrap="square" lIns="0" tIns="0" rIns="0" bIns="0" rtlCol="0" anchor="ctr"/>
          <a:lstStyle/>
          <a:p>
            <a:pPr marL="342900" indent="-342900">
              <a:spcAft>
                <a:spcPts val="500"/>
              </a:spcAft>
              <a:buSzPct val="100000"/>
              <a:buChar char="•"/>
            </a:pPr>
            <a:r>
              <a:rPr lang="en-US" sz="1350" dirty="0">
                <a:solidFill>
                  <a:schemeClr val="tx1"/>
                </a:solidFill>
              </a:rPr>
              <a:t>Retrieve the provision that appears to apply</a:t>
            </a:r>
            <a:endParaRPr lang="en-US" sz="1350" dirty="0"/>
          </a:p>
          <a:p>
            <a:pPr marL="342900" indent="-342900">
              <a:spcAft>
                <a:spcPts val="500"/>
              </a:spcAft>
              <a:buSzPct val="100000"/>
              <a:buChar char="•"/>
            </a:pPr>
            <a:r>
              <a:rPr lang="en-US" sz="1350" b="1" dirty="0">
                <a:solidFill>
                  <a:schemeClr val="tx1"/>
                </a:solidFill>
              </a:rPr>
              <a:t>Ask whether anything else modifies it</a:t>
            </a:r>
            <a:endParaRPr lang="en-US" sz="1350" dirty="0"/>
          </a:p>
          <a:p>
            <a:pPr marL="342900" indent="-342900">
              <a:spcAft>
                <a:spcPts val="500"/>
              </a:spcAft>
              <a:buSzPct val="100000"/>
              <a:buChar char="•"/>
            </a:pPr>
            <a:r>
              <a:rPr lang="en-US" sz="1350" dirty="0">
                <a:solidFill>
                  <a:schemeClr val="tx1"/>
                </a:solidFill>
              </a:rPr>
              <a:t>Search again, in the policy's own vocabulary</a:t>
            </a:r>
            <a:endParaRPr lang="en-US" sz="1350" dirty="0"/>
          </a:p>
          <a:p>
            <a:pPr marL="342900" indent="-342900">
              <a:spcAft>
                <a:spcPts val="500"/>
              </a:spcAft>
              <a:buSzPct val="100000"/>
              <a:buChar char="•"/>
            </a:pPr>
            <a:r>
              <a:rPr lang="en-US" sz="1350" b="1" dirty="0">
                <a:solidFill>
                  <a:schemeClr val="tx1"/>
                </a:solidFill>
              </a:rPr>
              <a:t>Verify the answer against what was retrieved</a:t>
            </a:r>
            <a:endParaRPr lang="en-US" sz="1350" dirty="0"/>
          </a:p>
          <a:p>
            <a:pPr marL="342900" indent="-342900">
              <a:spcAft>
                <a:spcPts val="500"/>
              </a:spcAft>
              <a:buSzPct val="100000"/>
              <a:buChar char="•"/>
            </a:pPr>
            <a:r>
              <a:rPr lang="en-US" sz="1350" dirty="0">
                <a:solidFill>
                  <a:schemeClr val="tx1"/>
                </a:solidFill>
              </a:rPr>
              <a:t>Retry differently, or escalate</a:t>
            </a:r>
            <a:endParaRPr lang="en-US" sz="1350" dirty="0"/>
          </a:p>
        </p:txBody>
      </p:sp>
      <p:sp>
        <p:nvSpPr>
          <p:cNvPr id="9" name="steps-note"/>
          <p:cNvSpPr txBox="1"/>
          <p:nvPr/>
        </p:nvSpPr>
        <p:spPr>
          <a:xfrm>
            <a:off x="566928" y="3675888"/>
            <a:ext cx="11027664" cy="530352"/>
          </a:xfrm>
          <a:prstGeom prst="rect">
            <a:avLst/>
          </a:prstGeom>
          <a:noFill/>
          <a:ln/>
        </p:spPr>
        <p:txBody>
          <a:bodyPr wrap="square" lIns="0" tIns="0" rIns="0" bIns="0" rtlCol="0" anchor="ctr"/>
          <a:lstStyle/>
          <a:p>
            <a:pPr indent="0" marL="0">
              <a:buNone/>
            </a:pPr>
            <a:r>
              <a:rPr lang="en-US" sz="1450" i="1" dirty="0">
                <a:solidFill>
                  <a:schemeClr val="accent4"/>
                </a:solidFill>
              </a:rPr>
              <a:t>Steps 2 and 4 are what distinguish an agent from a fixed pipeline. Both are implemented as graph nodes that can change the run's course.</a:t>
            </a:r>
            <a:endParaRPr lang="en-US" sz="1450" dirty="0"/>
          </a:p>
        </p:txBody>
      </p:sp>
      <p:sp>
        <p:nvSpPr>
          <p:cNvPr id="10" name="root-cause"/>
          <p:cNvSpPr/>
          <p:nvPr/>
        </p:nvSpPr>
        <p:spPr>
          <a:xfrm>
            <a:off x="566928" y="4224528"/>
            <a:ext cx="11027664" cy="1737360"/>
          </a:xfrm>
          <a:prstGeom prst="roundRect">
            <a:avLst>
              <a:gd name="adj" fmla="val 4211"/>
            </a:avLst>
          </a:prstGeom>
          <a:solidFill>
            <a:schemeClr val="tx2"/>
          </a:solidFill>
          <a:ln/>
        </p:spPr>
      </p:sp>
      <p:sp>
        <p:nvSpPr>
          <p:cNvPr id="11" name="root-head"/>
          <p:cNvSpPr txBox="1"/>
          <p:nvPr/>
        </p:nvSpPr>
        <p:spPr>
          <a:xfrm>
            <a:off x="877824" y="4425696"/>
            <a:ext cx="10405872" cy="310896"/>
          </a:xfrm>
          <a:prstGeom prst="rect">
            <a:avLst/>
          </a:prstGeom>
          <a:noFill/>
          <a:ln/>
        </p:spPr>
        <p:txBody>
          <a:bodyPr wrap="square" lIns="0" tIns="0" rIns="0" bIns="0" rtlCol="0" anchor="ctr"/>
          <a:lstStyle/>
          <a:p>
            <a:pPr indent="0" marL="0">
              <a:buNone/>
            </a:pPr>
            <a:r>
              <a:rPr lang="en-US" sz="1500" b="1" dirty="0">
                <a:solidFill>
                  <a:srgbClr val="E0A458"/>
                </a:solidFill>
              </a:rPr>
              <a:t>The root cause, stated precisely</a:t>
            </a:r>
            <a:endParaRPr lang="en-US" sz="1500" dirty="0"/>
          </a:p>
        </p:txBody>
      </p:sp>
      <p:sp>
        <p:nvSpPr>
          <p:cNvPr id="12" name="root-body"/>
          <p:cNvSpPr txBox="1"/>
          <p:nvPr/>
        </p:nvSpPr>
        <p:spPr>
          <a:xfrm>
            <a:off x="877824" y="4773168"/>
            <a:ext cx="10405872" cy="1005840"/>
          </a:xfrm>
          <a:prstGeom prst="rect">
            <a:avLst/>
          </a:prstGeom>
          <a:noFill/>
          <a:ln/>
        </p:spPr>
        <p:txBody>
          <a:bodyPr wrap="square" lIns="0" tIns="0" rIns="0" bIns="0" rtlCol="0" anchor="ctr"/>
          <a:lstStyle/>
          <a:p>
            <a:pPr indent="0" marL="0">
              <a:lnSpc>
                <a:spcPct val="116000"/>
              </a:lnSpc>
              <a:buNone/>
            </a:pPr>
            <a:r>
              <a:rPr lang="en-US" sz="1400" dirty="0">
                <a:solidFill>
                  <a:srgbClr val="EDEFF4"/>
                </a:solidFill>
              </a:rPr>
              <a:t>A single retrieval pass returns passages that resemble the question asked. This case turns on a provision the request never mentions — so no amount of better embedding, reranking or prompt engineering reaches it. The fix has to change what is searched for, not how well.</a:t>
            </a:r>
            <a:endParaRPr lang="en-US" sz="1400" dirty="0"/>
          </a:p>
        </p:txBody>
      </p:sp>
      <p:sp>
        <p:nvSpPr>
          <p:cNvPr id="14"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Three mechanisms, each built for that case</a:t>
            </a:r>
            <a:endParaRPr lang="en-US" sz="3200" dirty="0"/>
          </a:p>
        </p:txBody>
      </p:sp>
      <p:sp>
        <p:nvSpPr>
          <p:cNvPr id="3" name="num-1-dot"/>
          <p:cNvSpPr/>
          <p:nvPr/>
        </p:nvSpPr>
        <p:spPr>
          <a:xfrm>
            <a:off x="566928" y="1243584"/>
            <a:ext cx="420624" cy="420624"/>
          </a:xfrm>
          <a:prstGeom prst="ellipse">
            <a:avLst/>
          </a:prstGeom>
          <a:solidFill>
            <a:schemeClr val="accent1"/>
          </a:solidFill>
          <a:ln/>
        </p:spPr>
      </p:sp>
      <p:sp>
        <p:nvSpPr>
          <p:cNvPr id="4" name="num-1-label"/>
          <p:cNvSpPr txBox="1"/>
          <p:nvPr/>
        </p:nvSpPr>
        <p:spPr>
          <a:xfrm>
            <a:off x="566928" y="124358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num-1-heading"/>
          <p:cNvSpPr txBox="1"/>
          <p:nvPr/>
        </p:nvSpPr>
        <p:spPr>
          <a:xfrm>
            <a:off x="1170432" y="1225296"/>
            <a:ext cx="10424160" cy="329184"/>
          </a:xfrm>
          <a:prstGeom prst="rect">
            <a:avLst/>
          </a:prstGeom>
          <a:noFill/>
          <a:ln/>
        </p:spPr>
        <p:txBody>
          <a:bodyPr wrap="square" lIns="0" tIns="0" rIns="0" bIns="0" rtlCol="0" anchor="ctr"/>
          <a:lstStyle/>
          <a:p>
            <a:pPr indent="0" marL="0">
              <a:buNone/>
            </a:pPr>
            <a:r>
              <a:rPr lang="en-US" sz="1600" b="1" dirty="0">
                <a:solidFill>
                  <a:schemeClr val="tx2"/>
                </a:solidFill>
              </a:rPr>
              <a:t>Cross-references recorded at index time</a:t>
            </a:r>
            <a:endParaRPr lang="en-US" sz="1600" dirty="0"/>
          </a:p>
        </p:txBody>
      </p:sp>
      <p:sp>
        <p:nvSpPr>
          <p:cNvPr id="6" name="num-1-body"/>
          <p:cNvSpPr txBox="1"/>
          <p:nvPr/>
        </p:nvSpPr>
        <p:spPr>
          <a:xfrm>
            <a:off x="1170432" y="1554480"/>
            <a:ext cx="10424160" cy="786384"/>
          </a:xfrm>
          <a:prstGeom prst="rect">
            <a:avLst/>
          </a:prstGeom>
          <a:noFill/>
          <a:ln/>
        </p:spPr>
        <p:txBody>
          <a:bodyPr wrap="square" lIns="0" tIns="0" rIns="0" bIns="0" rtlCol="0" anchor="ctr"/>
          <a:lstStyle/>
          <a:p>
            <a:pPr indent="0" marL="0">
              <a:lnSpc>
                <a:spcPct val="112000"/>
              </a:lnSpc>
              <a:buNone/>
            </a:pPr>
            <a:r>
              <a:rPr lang="en-US" sz="1300" dirty="0">
                <a:solidFill>
                  <a:schemeClr val="tx1"/>
                </a:solidFill>
              </a:rPr>
              <a:t>The general exception names the restriction — “otherwise than in accordance with the ‘Limitations as to Use’”. The chunker detects that and stores the link, so the agent can follow it by name instead of hoping a vector search lands on it.</a:t>
            </a:r>
            <a:endParaRPr lang="en-US" sz="1300" dirty="0"/>
          </a:p>
        </p:txBody>
      </p:sp>
      <p:sp>
        <p:nvSpPr>
          <p:cNvPr id="7" name="num-2-dot"/>
          <p:cNvSpPr/>
          <p:nvPr/>
        </p:nvSpPr>
        <p:spPr>
          <a:xfrm>
            <a:off x="566928" y="2596896"/>
            <a:ext cx="420624" cy="420624"/>
          </a:xfrm>
          <a:prstGeom prst="ellipse">
            <a:avLst/>
          </a:prstGeom>
          <a:solidFill>
            <a:schemeClr val="accent2"/>
          </a:solidFill>
          <a:ln/>
        </p:spPr>
      </p:sp>
      <p:sp>
        <p:nvSpPr>
          <p:cNvPr id="8" name="num-2-label"/>
          <p:cNvSpPr txBox="1"/>
          <p:nvPr/>
        </p:nvSpPr>
        <p:spPr>
          <a:xfrm>
            <a:off x="566928" y="259689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num-2-heading"/>
          <p:cNvSpPr txBox="1"/>
          <p:nvPr/>
        </p:nvSpPr>
        <p:spPr>
          <a:xfrm>
            <a:off x="1170432" y="2578608"/>
            <a:ext cx="10424160" cy="329184"/>
          </a:xfrm>
          <a:prstGeom prst="rect">
            <a:avLst/>
          </a:prstGeom>
          <a:noFill/>
          <a:ln/>
        </p:spPr>
        <p:txBody>
          <a:bodyPr wrap="square" lIns="0" tIns="0" rIns="0" bIns="0" rtlCol="0" anchor="ctr"/>
          <a:lstStyle/>
          <a:p>
            <a:pPr indent="0" marL="0">
              <a:buNone/>
            </a:pPr>
            <a:r>
              <a:rPr lang="en-US" sz="1600" b="1" dirty="0">
                <a:solidFill>
                  <a:schemeClr val="tx2"/>
                </a:solidFill>
              </a:rPr>
              <a:t>Every clause tagged by role</a:t>
            </a:r>
            <a:endParaRPr lang="en-US" sz="1600" dirty="0"/>
          </a:p>
        </p:txBody>
      </p:sp>
      <p:sp>
        <p:nvSpPr>
          <p:cNvPr id="10" name="num-2-body"/>
          <p:cNvSpPr txBox="1"/>
          <p:nvPr/>
        </p:nvSpPr>
        <p:spPr>
          <a:xfrm>
            <a:off x="1170432" y="2907792"/>
            <a:ext cx="10424160" cy="786384"/>
          </a:xfrm>
          <a:prstGeom prst="rect">
            <a:avLst/>
          </a:prstGeom>
          <a:noFill/>
          <a:ln/>
        </p:spPr>
        <p:txBody>
          <a:bodyPr wrap="square" lIns="0" tIns="0" rIns="0" bIns="0" rtlCol="0" anchor="ctr"/>
          <a:lstStyle/>
          <a:p>
            <a:pPr indent="0" marL="0">
              <a:lnSpc>
                <a:spcPct val="112000"/>
              </a:lnSpc>
              <a:buNone/>
            </a:pPr>
            <a:r>
              <a:rPr lang="en-US" sz="1300" dirty="0">
                <a:solidFill>
                  <a:schemeClr val="tx1"/>
                </a:solidFill>
              </a:rPr>
              <a:t>grant · restriction · exclusion · condition · procedure · definition. This makes a role-filtered sweep possible: “what, anywhere in this wording, could take the cover away?” — a question no phrasing of the claim will answer.</a:t>
            </a:r>
            <a:endParaRPr lang="en-US" sz="1300" dirty="0"/>
          </a:p>
        </p:txBody>
      </p:sp>
      <p:sp>
        <p:nvSpPr>
          <p:cNvPr id="11" name="num-3-dot"/>
          <p:cNvSpPr/>
          <p:nvPr/>
        </p:nvSpPr>
        <p:spPr>
          <a:xfrm>
            <a:off x="566928" y="3950208"/>
            <a:ext cx="420624" cy="420624"/>
          </a:xfrm>
          <a:prstGeom prst="ellipse">
            <a:avLst/>
          </a:prstGeom>
          <a:solidFill>
            <a:schemeClr val="accent3"/>
          </a:solidFill>
          <a:ln/>
        </p:spPr>
      </p:sp>
      <p:sp>
        <p:nvSpPr>
          <p:cNvPr id="12" name="num-3-label"/>
          <p:cNvSpPr txBox="1"/>
          <p:nvPr/>
        </p:nvSpPr>
        <p:spPr>
          <a:xfrm>
            <a:off x="566928" y="39502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3" name="num-3-heading"/>
          <p:cNvSpPr txBox="1"/>
          <p:nvPr/>
        </p:nvSpPr>
        <p:spPr>
          <a:xfrm>
            <a:off x="1170432" y="3931920"/>
            <a:ext cx="10424160" cy="329184"/>
          </a:xfrm>
          <a:prstGeom prst="rect">
            <a:avLst/>
          </a:prstGeom>
          <a:noFill/>
          <a:ln/>
        </p:spPr>
        <p:txBody>
          <a:bodyPr wrap="square" lIns="0" tIns="0" rIns="0" bIns="0" rtlCol="0" anchor="ctr"/>
          <a:lstStyle/>
          <a:p>
            <a:pPr indent="0" marL="0">
              <a:buNone/>
            </a:pPr>
            <a:r>
              <a:rPr lang="en-US" sz="1600" b="1" dirty="0">
                <a:solidFill>
                  <a:schemeClr val="tx2"/>
                </a:solidFill>
              </a:rPr>
              <a:t>A planning step that decides whether to look</a:t>
            </a:r>
            <a:endParaRPr lang="en-US" sz="1600" dirty="0"/>
          </a:p>
        </p:txBody>
      </p:sp>
      <p:sp>
        <p:nvSpPr>
          <p:cNvPr id="14" name="num-3-body"/>
          <p:cNvSpPr txBox="1"/>
          <p:nvPr/>
        </p:nvSpPr>
        <p:spPr>
          <a:xfrm>
            <a:off x="1170432" y="4261104"/>
            <a:ext cx="10424160" cy="786384"/>
          </a:xfrm>
          <a:prstGeom prst="rect">
            <a:avLst/>
          </a:prstGeom>
          <a:noFill/>
          <a:ln/>
        </p:spPr>
        <p:txBody>
          <a:bodyPr wrap="square" lIns="0" tIns="0" rIns="0" bIns="0" rtlCol="0" anchor="ctr"/>
          <a:lstStyle/>
          <a:p>
            <a:pPr indent="0" marL="0">
              <a:lnSpc>
                <a:spcPct val="112000"/>
              </a:lnSpc>
              <a:buNone/>
            </a:pPr>
            <a:r>
              <a:rPr lang="en-US" sz="1300" dirty="0">
                <a:solidFill>
                  <a:schemeClr val="tx1"/>
                </a:solidFill>
              </a:rPr>
              <a:t>After the grant is found, the Coverage Analyst is asked whether each of four things could displace it, and must write its queries in the policy's vocabulary. It is allowed to answer “nothing applies” and stop — which is what makes retrieval a tool it chooses, not a stage it passes through.</a:t>
            </a:r>
            <a:endParaRPr lang="en-US" sz="1300" dirty="0"/>
          </a:p>
        </p:txBody>
      </p:sp>
      <p:sp>
        <p:nvSpPr>
          <p:cNvPr id="15" name="mech-foot"/>
          <p:cNvSpPr/>
          <p:nvPr/>
        </p:nvSpPr>
        <p:spPr>
          <a:xfrm>
            <a:off x="566928" y="5358384"/>
            <a:ext cx="11027664" cy="749808"/>
          </a:xfrm>
          <a:prstGeom prst="roundRect">
            <a:avLst>
              <a:gd name="adj" fmla="val 9756"/>
            </a:avLst>
          </a:prstGeom>
          <a:solidFill>
            <a:schemeClr val="bg2"/>
          </a:solidFill>
          <a:ln/>
        </p:spPr>
      </p:sp>
      <p:sp>
        <p:nvSpPr>
          <p:cNvPr id="16" name="mech-foot-text"/>
          <p:cNvSpPr txBox="1"/>
          <p:nvPr/>
        </p:nvSpPr>
        <p:spPr>
          <a:xfrm>
            <a:off x="877824" y="5358384"/>
            <a:ext cx="10405872" cy="749808"/>
          </a:xfrm>
          <a:prstGeom prst="rect">
            <a:avLst/>
          </a:prstGeom>
          <a:noFill/>
          <a:ln/>
        </p:spPr>
        <p:txBody>
          <a:bodyPr wrap="square" lIns="0" tIns="0" rIns="0" bIns="0" rtlCol="0" anchor="ctr"/>
          <a:lstStyle/>
          <a:p>
            <a:pPr indent="0" marL="0">
              <a:buNone/>
            </a:pPr>
            <a:r>
              <a:rPr lang="en-US" sz="1400" dirty="0">
                <a:solidFill>
                  <a:srgbClr val="8C3B30"/>
                </a:solidFill>
              </a:rPr>
              <a:t>“Food delivery” will not match the clause.  </a:t>
            </a:r>
            <a:pPr indent="0" marL="0">
              <a:buNone/>
            </a:pPr>
            <a:r>
              <a:rPr lang="en-US" sz="1400" b="1" dirty="0">
                <a:solidFill>
                  <a:srgbClr val="3F7D6E"/>
                </a:solidFill>
              </a:rPr>
              <a:t>“Hire or reward”, “carriage of goods” and “limitations as to use” will.</a:t>
            </a:r>
            <a:endParaRPr lang="en-US" sz="1400" dirty="0"/>
          </a:p>
        </p:txBody>
      </p:sp>
      <p:sp>
        <p:nvSpPr>
          <p:cNvPr id="18"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Four agents, and a loop that can send work back</a:t>
            </a:r>
            <a:endParaRPr lang="en-US" sz="3200" dirty="0"/>
          </a:p>
        </p:txBody>
      </p:sp>
      <p:sp>
        <p:nvSpPr>
          <p:cNvPr id="3" name="agent-0"/>
          <p:cNvSpPr/>
          <p:nvPr/>
        </p:nvSpPr>
        <p:spPr>
          <a:xfrm>
            <a:off x="566928" y="1225296"/>
            <a:ext cx="2578608" cy="1920240"/>
          </a:xfrm>
          <a:prstGeom prst="roundRect">
            <a:avLst>
              <a:gd name="adj" fmla="val 3810"/>
            </a:avLst>
          </a:prstGeom>
          <a:solidFill>
            <a:schemeClr val="bg2"/>
          </a:solidFill>
          <a:ln/>
        </p:spPr>
      </p:sp>
      <p:sp>
        <p:nvSpPr>
          <p:cNvPr id="4" name="agent-0-cap"/>
          <p:cNvSpPr/>
          <p:nvPr/>
        </p:nvSpPr>
        <p:spPr>
          <a:xfrm>
            <a:off x="566928" y="1225296"/>
            <a:ext cx="2578608" cy="420624"/>
          </a:xfrm>
          <a:prstGeom prst="roundRect">
            <a:avLst>
              <a:gd name="adj" fmla="val 17391"/>
            </a:avLst>
          </a:prstGeom>
          <a:solidFill>
            <a:srgbClr val="5A6378"/>
          </a:solidFill>
          <a:ln/>
        </p:spPr>
      </p:sp>
      <p:sp>
        <p:nvSpPr>
          <p:cNvPr id="5" name="agent-0-name"/>
          <p:cNvSpPr txBox="1"/>
          <p:nvPr/>
        </p:nvSpPr>
        <p:spPr>
          <a:xfrm>
            <a:off x="713232" y="1225296"/>
            <a:ext cx="2286000" cy="420624"/>
          </a:xfrm>
          <a:prstGeom prst="rect">
            <a:avLst/>
          </a:prstGeom>
          <a:noFill/>
          <a:ln/>
        </p:spPr>
        <p:txBody>
          <a:bodyPr wrap="square" lIns="0" tIns="0" rIns="0" bIns="0" rtlCol="0" anchor="ctr"/>
          <a:lstStyle/>
          <a:p>
            <a:pPr indent="0" marL="0">
              <a:buNone/>
            </a:pPr>
            <a:r>
              <a:rPr lang="en-US" sz="1350" b="1" dirty="0">
                <a:solidFill>
                  <a:srgbClr val="FFFFFF"/>
                </a:solidFill>
              </a:rPr>
              <a:t>Intake Analyst</a:t>
            </a:r>
            <a:endParaRPr lang="en-US" sz="1350" dirty="0"/>
          </a:p>
        </p:txBody>
      </p:sp>
      <p:sp>
        <p:nvSpPr>
          <p:cNvPr id="6" name="agent-0-body"/>
          <p:cNvSpPr txBox="1"/>
          <p:nvPr/>
        </p:nvSpPr>
        <p:spPr>
          <a:xfrm>
            <a:off x="768096" y="1755648"/>
            <a:ext cx="2194560" cy="1280160"/>
          </a:xfrm>
          <a:prstGeom prst="rect">
            <a:avLst/>
          </a:prstGeom>
          <a:noFill/>
          <a:ln/>
        </p:spPr>
        <p:txBody>
          <a:bodyPr wrap="square" lIns="0" tIns="0" rIns="0" bIns="0" rtlCol="0" anchor="ctr"/>
          <a:lstStyle/>
          <a:p>
            <a:pPr indent="0" marL="0">
              <a:lnSpc>
                <a:spcPct val="114000"/>
              </a:lnSpc>
              <a:buNone/>
            </a:pPr>
            <a:r>
              <a:rPr lang="en-US" sz="1150" dirty="0">
                <a:solidFill>
                  <a:schemeClr val="tx1"/>
                </a:solidFill>
              </a:rPr>
              <a:t>Classify, extract entities, flag the</a:t>
            </a:r>
            <a:endParaRPr lang="en-US" sz="1150" dirty="0"/>
          </a:p>
          <a:p>
            <a:pPr indent="0" marL="0">
              <a:lnSpc>
                <a:spcPct val="114000"/>
              </a:lnSpc>
              <a:buNone/>
            </a:pPr>
            <a:r>
              <a:rPr lang="en-US" sz="1150" dirty="0">
                <a:solidFill>
                  <a:schemeClr val="tx1"/>
                </a:solidFill>
              </a:rPr>
              <a:t>declared-use discrepancy, propose</a:t>
            </a:r>
            <a:endParaRPr lang="en-US" sz="1150" dirty="0"/>
          </a:p>
          <a:p>
            <a:pPr indent="0" marL="0">
              <a:lnSpc>
                <a:spcPct val="114000"/>
              </a:lnSpc>
              <a:buNone/>
            </a:pPr>
            <a:r>
              <a:rPr lang="en-US" sz="1150" dirty="0">
                <a:solidFill>
                  <a:schemeClr val="tx1"/>
                </a:solidFill>
              </a:rPr>
              <a:t>the first queries</a:t>
            </a:r>
            <a:endParaRPr lang="en-US" sz="1150" dirty="0"/>
          </a:p>
        </p:txBody>
      </p:sp>
      <p:sp>
        <p:nvSpPr>
          <p:cNvPr id="7" name="agent-arrow-0"/>
          <p:cNvSpPr txBox="1"/>
          <p:nvPr/>
        </p:nvSpPr>
        <p:spPr>
          <a:xfrm>
            <a:off x="3145536" y="1225296"/>
            <a:ext cx="228600" cy="1920240"/>
          </a:xfrm>
          <a:prstGeom prst="rect">
            <a:avLst/>
          </a:prstGeom>
          <a:noFill/>
          <a:ln/>
        </p:spPr>
        <p:txBody>
          <a:bodyPr wrap="square" lIns="0" tIns="0" rIns="0" bIns="0" rtlCol="0" anchor="ctr"/>
          <a:lstStyle/>
          <a:p>
            <a:pPr algn="ctr" indent="0" marL="0">
              <a:buNone/>
            </a:pPr>
            <a:r>
              <a:rPr lang="en-US" sz="2400" b="1" dirty="0">
                <a:solidFill>
                  <a:srgbClr val="5A6378"/>
                </a:solidFill>
              </a:rPr>
              <a:t>›</a:t>
            </a:r>
            <a:endParaRPr lang="en-US" sz="2400" dirty="0"/>
          </a:p>
        </p:txBody>
      </p:sp>
      <p:sp>
        <p:nvSpPr>
          <p:cNvPr id="8" name="agent-1"/>
          <p:cNvSpPr/>
          <p:nvPr/>
        </p:nvSpPr>
        <p:spPr>
          <a:xfrm>
            <a:off x="3374136" y="1225296"/>
            <a:ext cx="2578608" cy="1920240"/>
          </a:xfrm>
          <a:prstGeom prst="roundRect">
            <a:avLst>
              <a:gd name="adj" fmla="val 3810"/>
            </a:avLst>
          </a:prstGeom>
          <a:solidFill>
            <a:schemeClr val="bg2"/>
          </a:solidFill>
          <a:ln/>
        </p:spPr>
      </p:sp>
      <p:sp>
        <p:nvSpPr>
          <p:cNvPr id="9" name="agent-1-cap"/>
          <p:cNvSpPr/>
          <p:nvPr/>
        </p:nvSpPr>
        <p:spPr>
          <a:xfrm>
            <a:off x="3374136" y="1225296"/>
            <a:ext cx="2578608" cy="420624"/>
          </a:xfrm>
          <a:prstGeom prst="roundRect">
            <a:avLst>
              <a:gd name="adj" fmla="val 17391"/>
            </a:avLst>
          </a:prstGeom>
          <a:solidFill>
            <a:srgbClr val="E0A458"/>
          </a:solidFill>
          <a:ln/>
        </p:spPr>
      </p:sp>
      <p:sp>
        <p:nvSpPr>
          <p:cNvPr id="10" name="agent-1-name"/>
          <p:cNvSpPr txBox="1"/>
          <p:nvPr/>
        </p:nvSpPr>
        <p:spPr>
          <a:xfrm>
            <a:off x="3520440" y="1225296"/>
            <a:ext cx="2286000" cy="420624"/>
          </a:xfrm>
          <a:prstGeom prst="rect">
            <a:avLst/>
          </a:prstGeom>
          <a:noFill/>
          <a:ln/>
        </p:spPr>
        <p:txBody>
          <a:bodyPr wrap="square" lIns="0" tIns="0" rIns="0" bIns="0" rtlCol="0" anchor="ctr"/>
          <a:lstStyle/>
          <a:p>
            <a:pPr indent="0" marL="0">
              <a:buNone/>
            </a:pPr>
            <a:r>
              <a:rPr lang="en-US" sz="1350" b="1" dirty="0">
                <a:solidFill>
                  <a:srgbClr val="FFFFFF"/>
                </a:solidFill>
              </a:rPr>
              <a:t>Coverage Analyst</a:t>
            </a:r>
            <a:endParaRPr lang="en-US" sz="1350" dirty="0"/>
          </a:p>
        </p:txBody>
      </p:sp>
      <p:sp>
        <p:nvSpPr>
          <p:cNvPr id="11" name="agent-1-body"/>
          <p:cNvSpPr txBox="1"/>
          <p:nvPr/>
        </p:nvSpPr>
        <p:spPr>
          <a:xfrm>
            <a:off x="3575304" y="1755648"/>
            <a:ext cx="2194560" cy="1280160"/>
          </a:xfrm>
          <a:prstGeom prst="rect">
            <a:avLst/>
          </a:prstGeom>
          <a:noFill/>
          <a:ln/>
        </p:spPr>
        <p:txBody>
          <a:bodyPr wrap="square" lIns="0" tIns="0" rIns="0" bIns="0" rtlCol="0" anchor="ctr"/>
          <a:lstStyle/>
          <a:p>
            <a:pPr indent="0" marL="0">
              <a:lnSpc>
                <a:spcPct val="114000"/>
              </a:lnSpc>
              <a:buNone/>
            </a:pPr>
            <a:r>
              <a:rPr lang="en-US" sz="1150" dirty="0">
                <a:solidFill>
                  <a:schemeClr val="tx1"/>
                </a:solidFill>
              </a:rPr>
              <a:t>ground_search → plan_modifiers →</a:t>
            </a:r>
            <a:endParaRPr lang="en-US" sz="1150" dirty="0"/>
          </a:p>
          <a:p>
            <a:pPr indent="0" marL="0">
              <a:lnSpc>
                <a:spcPct val="114000"/>
              </a:lnSpc>
              <a:buNone/>
            </a:pPr>
            <a:r>
              <a:rPr lang="en-US" sz="1150" dirty="0">
                <a:solidFill>
                  <a:schemeClr val="tx1"/>
                </a:solidFill>
              </a:rPr>
              <a:t>targeted_search → analyse.</a:t>
            </a:r>
            <a:endParaRPr lang="en-US" sz="1150" dirty="0"/>
          </a:p>
          <a:p>
            <a:pPr indent="0" marL="0">
              <a:lnSpc>
                <a:spcPct val="114000"/>
              </a:lnSpc>
              <a:buNone/>
            </a:pPr>
            <a:r>
              <a:rPr lang="en-US" sz="1150" dirty="0">
                <a:solidFill>
                  <a:schemeClr val="tx1"/>
                </a:solidFill>
              </a:rPr>
              <a:t>Owns all five tools</a:t>
            </a:r>
            <a:endParaRPr lang="en-US" sz="1150" dirty="0"/>
          </a:p>
        </p:txBody>
      </p:sp>
      <p:sp>
        <p:nvSpPr>
          <p:cNvPr id="12" name="agent-arrow-1"/>
          <p:cNvSpPr txBox="1"/>
          <p:nvPr/>
        </p:nvSpPr>
        <p:spPr>
          <a:xfrm>
            <a:off x="5952744" y="1225296"/>
            <a:ext cx="228600" cy="1920240"/>
          </a:xfrm>
          <a:prstGeom prst="rect">
            <a:avLst/>
          </a:prstGeom>
          <a:noFill/>
          <a:ln/>
        </p:spPr>
        <p:txBody>
          <a:bodyPr wrap="square" lIns="0" tIns="0" rIns="0" bIns="0" rtlCol="0" anchor="ctr"/>
          <a:lstStyle/>
          <a:p>
            <a:pPr algn="ctr" indent="0" marL="0">
              <a:buNone/>
            </a:pPr>
            <a:r>
              <a:rPr lang="en-US" sz="2400" b="1" dirty="0">
                <a:solidFill>
                  <a:srgbClr val="5A6378"/>
                </a:solidFill>
              </a:rPr>
              <a:t>›</a:t>
            </a:r>
            <a:endParaRPr lang="en-US" sz="2400" dirty="0"/>
          </a:p>
        </p:txBody>
      </p:sp>
      <p:sp>
        <p:nvSpPr>
          <p:cNvPr id="13" name="agent-2"/>
          <p:cNvSpPr/>
          <p:nvPr/>
        </p:nvSpPr>
        <p:spPr>
          <a:xfrm>
            <a:off x="6181344" y="1225296"/>
            <a:ext cx="2578608" cy="1920240"/>
          </a:xfrm>
          <a:prstGeom prst="roundRect">
            <a:avLst>
              <a:gd name="adj" fmla="val 3810"/>
            </a:avLst>
          </a:prstGeom>
          <a:solidFill>
            <a:schemeClr val="bg2"/>
          </a:solidFill>
          <a:ln/>
        </p:spPr>
      </p:sp>
      <p:sp>
        <p:nvSpPr>
          <p:cNvPr id="14" name="agent-2-cap"/>
          <p:cNvSpPr/>
          <p:nvPr/>
        </p:nvSpPr>
        <p:spPr>
          <a:xfrm>
            <a:off x="6181344" y="1225296"/>
            <a:ext cx="2578608" cy="420624"/>
          </a:xfrm>
          <a:prstGeom prst="roundRect">
            <a:avLst>
              <a:gd name="adj" fmla="val 17391"/>
            </a:avLst>
          </a:prstGeom>
          <a:solidFill>
            <a:srgbClr val="B85042"/>
          </a:solidFill>
          <a:ln/>
        </p:spPr>
      </p:sp>
      <p:sp>
        <p:nvSpPr>
          <p:cNvPr id="15" name="agent-2-name"/>
          <p:cNvSpPr txBox="1"/>
          <p:nvPr/>
        </p:nvSpPr>
        <p:spPr>
          <a:xfrm>
            <a:off x="6327648" y="1225296"/>
            <a:ext cx="2286000" cy="420624"/>
          </a:xfrm>
          <a:prstGeom prst="rect">
            <a:avLst/>
          </a:prstGeom>
          <a:noFill/>
          <a:ln/>
        </p:spPr>
        <p:txBody>
          <a:bodyPr wrap="square" lIns="0" tIns="0" rIns="0" bIns="0" rtlCol="0" anchor="ctr"/>
          <a:lstStyle/>
          <a:p>
            <a:pPr indent="0" marL="0">
              <a:buNone/>
            </a:pPr>
            <a:r>
              <a:rPr lang="en-US" sz="1350" b="1" dirty="0">
                <a:solidFill>
                  <a:srgbClr val="FFFFFF"/>
                </a:solidFill>
              </a:rPr>
              <a:t>Verifier</a:t>
            </a:r>
            <a:endParaRPr lang="en-US" sz="1350" dirty="0"/>
          </a:p>
        </p:txBody>
      </p:sp>
      <p:sp>
        <p:nvSpPr>
          <p:cNvPr id="16" name="agent-2-body"/>
          <p:cNvSpPr txBox="1"/>
          <p:nvPr/>
        </p:nvSpPr>
        <p:spPr>
          <a:xfrm>
            <a:off x="6382512" y="1755648"/>
            <a:ext cx="2194560" cy="1280160"/>
          </a:xfrm>
          <a:prstGeom prst="rect">
            <a:avLst/>
          </a:prstGeom>
          <a:noFill/>
          <a:ln/>
        </p:spPr>
        <p:txBody>
          <a:bodyPr wrap="square" lIns="0" tIns="0" rIns="0" bIns="0" rtlCol="0" anchor="ctr"/>
          <a:lstStyle/>
          <a:p>
            <a:pPr indent="0" marL="0">
              <a:lnSpc>
                <a:spcPct val="114000"/>
              </a:lnSpc>
              <a:buNone/>
            </a:pPr>
            <a:r>
              <a:rPr lang="en-US" sz="1150" dirty="0">
                <a:solidFill>
                  <a:schemeClr val="tx1"/>
                </a:solidFill>
              </a:rPr>
              <a:t>Quotes resolve? Claims entailed?</a:t>
            </a:r>
            <a:endParaRPr lang="en-US" sz="1150" dirty="0"/>
          </a:p>
          <a:p>
            <a:pPr indent="0" marL="0">
              <a:lnSpc>
                <a:spcPct val="114000"/>
              </a:lnSpc>
              <a:buNone/>
            </a:pPr>
            <a:r>
              <a:rPr lang="en-US" sz="1150" dirty="0">
                <a:solidFill>
                  <a:schemeClr val="tx1"/>
                </a:solidFill>
              </a:rPr>
              <a:t>The only node that can send</a:t>
            </a:r>
            <a:endParaRPr lang="en-US" sz="1150" dirty="0"/>
          </a:p>
          <a:p>
            <a:pPr indent="0" marL="0">
              <a:lnSpc>
                <a:spcPct val="114000"/>
              </a:lnSpc>
              <a:buNone/>
            </a:pPr>
            <a:r>
              <a:rPr lang="en-US" sz="1150" dirty="0">
                <a:solidFill>
                  <a:schemeClr val="tx1"/>
                </a:solidFill>
              </a:rPr>
              <a:t>work back</a:t>
            </a:r>
            <a:endParaRPr lang="en-US" sz="1150" dirty="0"/>
          </a:p>
        </p:txBody>
      </p:sp>
      <p:sp>
        <p:nvSpPr>
          <p:cNvPr id="17" name="agent-arrow-2"/>
          <p:cNvSpPr txBox="1"/>
          <p:nvPr/>
        </p:nvSpPr>
        <p:spPr>
          <a:xfrm>
            <a:off x="8759952" y="1225296"/>
            <a:ext cx="228600" cy="1920240"/>
          </a:xfrm>
          <a:prstGeom prst="rect">
            <a:avLst/>
          </a:prstGeom>
          <a:noFill/>
          <a:ln/>
        </p:spPr>
        <p:txBody>
          <a:bodyPr wrap="square" lIns="0" tIns="0" rIns="0" bIns="0" rtlCol="0" anchor="ctr"/>
          <a:lstStyle/>
          <a:p>
            <a:pPr algn="ctr" indent="0" marL="0">
              <a:buNone/>
            </a:pPr>
            <a:r>
              <a:rPr lang="en-US" sz="2400" b="1" dirty="0">
                <a:solidFill>
                  <a:srgbClr val="5A6378"/>
                </a:solidFill>
              </a:rPr>
              <a:t>›</a:t>
            </a:r>
            <a:endParaRPr lang="en-US" sz="2400" dirty="0"/>
          </a:p>
        </p:txBody>
      </p:sp>
      <p:sp>
        <p:nvSpPr>
          <p:cNvPr id="18" name="agent-3"/>
          <p:cNvSpPr/>
          <p:nvPr/>
        </p:nvSpPr>
        <p:spPr>
          <a:xfrm>
            <a:off x="8988552" y="1225296"/>
            <a:ext cx="2578608" cy="1920240"/>
          </a:xfrm>
          <a:prstGeom prst="roundRect">
            <a:avLst>
              <a:gd name="adj" fmla="val 3810"/>
            </a:avLst>
          </a:prstGeom>
          <a:solidFill>
            <a:schemeClr val="bg2"/>
          </a:solidFill>
          <a:ln/>
        </p:spPr>
      </p:sp>
      <p:sp>
        <p:nvSpPr>
          <p:cNvPr id="19" name="agent-3-cap"/>
          <p:cNvSpPr/>
          <p:nvPr/>
        </p:nvSpPr>
        <p:spPr>
          <a:xfrm>
            <a:off x="8988552" y="1225296"/>
            <a:ext cx="2578608" cy="420624"/>
          </a:xfrm>
          <a:prstGeom prst="roundRect">
            <a:avLst>
              <a:gd name="adj" fmla="val 17391"/>
            </a:avLst>
          </a:prstGeom>
          <a:solidFill>
            <a:srgbClr val="3F7D6E"/>
          </a:solidFill>
          <a:ln/>
        </p:spPr>
      </p:sp>
      <p:sp>
        <p:nvSpPr>
          <p:cNvPr id="20" name="agent-3-name"/>
          <p:cNvSpPr txBox="1"/>
          <p:nvPr/>
        </p:nvSpPr>
        <p:spPr>
          <a:xfrm>
            <a:off x="9134856" y="1225296"/>
            <a:ext cx="2286000" cy="420624"/>
          </a:xfrm>
          <a:prstGeom prst="rect">
            <a:avLst/>
          </a:prstGeom>
          <a:noFill/>
          <a:ln/>
        </p:spPr>
        <p:txBody>
          <a:bodyPr wrap="square" lIns="0" tIns="0" rIns="0" bIns="0" rtlCol="0" anchor="ctr"/>
          <a:lstStyle/>
          <a:p>
            <a:pPr indent="0" marL="0">
              <a:buNone/>
            </a:pPr>
            <a:r>
              <a:rPr lang="en-US" sz="1350" b="1" dirty="0">
                <a:solidFill>
                  <a:srgbClr val="FFFFFF"/>
                </a:solidFill>
              </a:rPr>
              <a:t>Routing Officer</a:t>
            </a:r>
            <a:endParaRPr lang="en-US" sz="1350" dirty="0"/>
          </a:p>
        </p:txBody>
      </p:sp>
      <p:sp>
        <p:nvSpPr>
          <p:cNvPr id="21" name="agent-3-body"/>
          <p:cNvSpPr txBox="1"/>
          <p:nvPr/>
        </p:nvSpPr>
        <p:spPr>
          <a:xfrm>
            <a:off x="9189720" y="1755648"/>
            <a:ext cx="2194560" cy="1280160"/>
          </a:xfrm>
          <a:prstGeom prst="rect">
            <a:avLst/>
          </a:prstGeom>
          <a:noFill/>
          <a:ln/>
        </p:spPr>
        <p:txBody>
          <a:bodyPr wrap="square" lIns="0" tIns="0" rIns="0" bIns="0" rtlCol="0" anchor="ctr"/>
          <a:lstStyle/>
          <a:p>
            <a:pPr indent="0" marL="0">
              <a:lnSpc>
                <a:spcPct val="114000"/>
              </a:lnSpc>
              <a:buNone/>
            </a:pPr>
            <a:r>
              <a:rPr lang="en-US" sz="1150" dirty="0">
                <a:solidFill>
                  <a:schemeClr val="tx1"/>
                </a:solidFill>
              </a:rPr>
              <a:t>Chooses the queue — then the</a:t>
            </a:r>
            <a:endParaRPr lang="en-US" sz="1150" dirty="0"/>
          </a:p>
          <a:p>
            <a:pPr indent="0" marL="0">
              <a:lnSpc>
                <a:spcPct val="114000"/>
              </a:lnSpc>
              <a:buNone/>
            </a:pPr>
            <a:r>
              <a:rPr lang="en-US" sz="1150" dirty="0">
                <a:solidFill>
                  <a:schemeClr val="tx1"/>
                </a:solidFill>
              </a:rPr>
              <a:t>deterministic signals raise it to</a:t>
            </a:r>
            <a:endParaRPr lang="en-US" sz="1150" dirty="0"/>
          </a:p>
          <a:p>
            <a:pPr indent="0" marL="0">
              <a:lnSpc>
                <a:spcPct val="114000"/>
              </a:lnSpc>
              <a:buNone/>
            </a:pPr>
            <a:r>
              <a:rPr lang="en-US" sz="1150" dirty="0">
                <a:solidFill>
                  <a:schemeClr val="tx1"/>
                </a:solidFill>
              </a:rPr>
              <a:t>their floor</a:t>
            </a:r>
            <a:endParaRPr lang="en-US" sz="1150" dirty="0"/>
          </a:p>
        </p:txBody>
      </p:sp>
      <p:sp>
        <p:nvSpPr>
          <p:cNvPr id="22" name="loop-label"/>
          <p:cNvSpPr txBox="1"/>
          <p:nvPr/>
        </p:nvSpPr>
        <p:spPr>
          <a:xfrm>
            <a:off x="566928" y="3255264"/>
            <a:ext cx="11027664" cy="310896"/>
          </a:xfrm>
          <a:prstGeom prst="rect">
            <a:avLst/>
          </a:prstGeom>
          <a:noFill/>
          <a:ln/>
        </p:spPr>
        <p:txBody>
          <a:bodyPr wrap="square" lIns="0" tIns="0" rIns="0" bIns="0" rtlCol="0" anchor="ctr"/>
          <a:lstStyle/>
          <a:p>
            <a:pPr algn="ctr" indent="0" marL="0">
              <a:buNone/>
            </a:pPr>
            <a:r>
              <a:rPr lang="en-US" sz="1250" b="1" dirty="0">
                <a:solidFill>
                  <a:schemeClr val="accent1"/>
                </a:solidFill>
              </a:rPr>
              <a:t>unsupported  →  back to the Coverage Analyst with a different search strategy  →  or escalate</a:t>
            </a:r>
            <a:endParaRPr lang="en-US" sz="1250" dirty="0"/>
          </a:p>
        </p:txBody>
      </p:sp>
      <p:sp>
        <p:nvSpPr>
          <p:cNvPr id="23" name="why-agents"/>
          <p:cNvSpPr/>
          <p:nvPr/>
        </p:nvSpPr>
        <p:spPr>
          <a:xfrm>
            <a:off x="566928" y="3712464"/>
            <a:ext cx="5358384" cy="2286000"/>
          </a:xfrm>
          <a:prstGeom prst="roundRect">
            <a:avLst>
              <a:gd name="adj" fmla="val 3200"/>
            </a:avLst>
          </a:prstGeom>
          <a:solidFill>
            <a:schemeClr val="bg2"/>
          </a:solidFill>
          <a:ln/>
        </p:spPr>
      </p:sp>
      <p:sp>
        <p:nvSpPr>
          <p:cNvPr id="24" name="why-agents-head"/>
          <p:cNvSpPr txBox="1"/>
          <p:nvPr/>
        </p:nvSpPr>
        <p:spPr>
          <a:xfrm>
            <a:off x="841248" y="3913632"/>
            <a:ext cx="4809744" cy="310896"/>
          </a:xfrm>
          <a:prstGeom prst="rect">
            <a:avLst/>
          </a:prstGeom>
          <a:noFill/>
          <a:ln/>
        </p:spPr>
        <p:txBody>
          <a:bodyPr wrap="square" lIns="0" tIns="0" rIns="0" bIns="0" rtlCol="0" anchor="ctr"/>
          <a:lstStyle/>
          <a:p>
            <a:pPr indent="0" marL="0">
              <a:buNone/>
            </a:pPr>
            <a:r>
              <a:rPr lang="en-US" sz="1500" b="1" dirty="0">
                <a:solidFill>
                  <a:schemeClr val="tx2"/>
                </a:solidFill>
              </a:rPr>
              <a:t>Why four agents and not four prompts</a:t>
            </a:r>
            <a:endParaRPr lang="en-US" sz="1500" dirty="0"/>
          </a:p>
        </p:txBody>
      </p:sp>
      <p:sp>
        <p:nvSpPr>
          <p:cNvPr id="25" name="why-agents-body"/>
          <p:cNvSpPr txBox="1"/>
          <p:nvPr/>
        </p:nvSpPr>
        <p:spPr>
          <a:xfrm>
            <a:off x="841248" y="4261104"/>
            <a:ext cx="4809744" cy="1554480"/>
          </a:xfrm>
          <a:prstGeom prst="rect">
            <a:avLst/>
          </a:prstGeom>
          <a:noFill/>
          <a:ln/>
        </p:spPr>
        <p:txBody>
          <a:bodyPr wrap="square" lIns="0" tIns="0" rIns="0" bIns="0" rtlCol="0" anchor="ctr"/>
          <a:lstStyle/>
          <a:p>
            <a:pPr indent="0" marL="0">
              <a:lnSpc>
                <a:spcPct val="114000"/>
              </a:lnSpc>
              <a:buNone/>
            </a:pPr>
            <a:r>
              <a:rPr lang="en-US" sz="1250" dirty="0">
                <a:solidFill>
                  <a:schemeClr val="tx1"/>
                </a:solidFill>
              </a:rPr>
              <a:t>Each owns part of the state and can fail independently. The Verifier is adversarial by construction: it receives the passages and the draft, not the Analyst's reasoning, and it is the only node with the authority to loop.</a:t>
            </a:r>
            <a:endParaRPr lang="en-US" sz="1250" dirty="0"/>
          </a:p>
          <a:p>
            <a:pPr indent="0" marL="0">
              <a:lnSpc>
                <a:spcPct val="114000"/>
              </a:lnSpc>
              <a:buNone/>
            </a:pPr>
            <a:endParaRPr lang="en-US" sz="1250" dirty="0"/>
          </a:p>
          <a:p>
            <a:pPr indent="0" marL="0">
              <a:lnSpc>
                <a:spcPct val="114000"/>
              </a:lnSpc>
              <a:buNone/>
            </a:pPr>
            <a:r>
              <a:rPr lang="en-US" sz="1250" dirty="0">
                <a:solidFill>
                  <a:schemeClr val="tx1"/>
                </a:solidFill>
              </a:rPr>
              <a:t>The Routing Officer is separate because part of its decision is not the model's at all.</a:t>
            </a:r>
            <a:endParaRPr lang="en-US" sz="1250" dirty="0"/>
          </a:p>
        </p:txBody>
      </p:sp>
      <p:sp>
        <p:nvSpPr>
          <p:cNvPr id="26" name="bounds"/>
          <p:cNvSpPr/>
          <p:nvPr/>
        </p:nvSpPr>
        <p:spPr>
          <a:xfrm>
            <a:off x="6236208" y="3712464"/>
            <a:ext cx="5358384" cy="2286000"/>
          </a:xfrm>
          <a:prstGeom prst="roundRect">
            <a:avLst>
              <a:gd name="adj" fmla="val 3200"/>
            </a:avLst>
          </a:prstGeom>
          <a:solidFill>
            <a:schemeClr val="bg2"/>
          </a:solidFill>
          <a:ln/>
        </p:spPr>
      </p:sp>
      <p:sp>
        <p:nvSpPr>
          <p:cNvPr id="27" name="bounds-head"/>
          <p:cNvSpPr txBox="1"/>
          <p:nvPr/>
        </p:nvSpPr>
        <p:spPr>
          <a:xfrm>
            <a:off x="6510528" y="3913632"/>
            <a:ext cx="4809744" cy="310896"/>
          </a:xfrm>
          <a:prstGeom prst="rect">
            <a:avLst/>
          </a:prstGeom>
          <a:noFill/>
          <a:ln/>
        </p:spPr>
        <p:txBody>
          <a:bodyPr wrap="square" lIns="0" tIns="0" rIns="0" bIns="0" rtlCol="0" anchor="ctr"/>
          <a:lstStyle/>
          <a:p>
            <a:pPr indent="0" marL="0">
              <a:buNone/>
            </a:pPr>
            <a:r>
              <a:rPr lang="en-US" sz="1500" b="1" dirty="0">
                <a:solidFill>
                  <a:schemeClr val="tx2"/>
                </a:solidFill>
              </a:rPr>
              <a:t>Bounded three ways, independently</a:t>
            </a:r>
            <a:endParaRPr lang="en-US" sz="1500" dirty="0"/>
          </a:p>
        </p:txBody>
      </p:sp>
      <p:sp>
        <p:nvSpPr>
          <p:cNvPr id="28" name="bound-0-v"/>
          <p:cNvSpPr txBox="1"/>
          <p:nvPr/>
        </p:nvSpPr>
        <p:spPr>
          <a:xfrm>
            <a:off x="6510528" y="4279392"/>
            <a:ext cx="1554480" cy="457200"/>
          </a:xfrm>
          <a:prstGeom prst="rect">
            <a:avLst/>
          </a:prstGeom>
          <a:noFill/>
          <a:ln/>
        </p:spPr>
        <p:txBody>
          <a:bodyPr wrap="square" lIns="0" tIns="0" rIns="0" bIns="0" rtlCol="0" anchor="ctr"/>
          <a:lstStyle/>
          <a:p>
            <a:pPr indent="0" marL="0">
              <a:buNone/>
            </a:pPr>
            <a:r>
              <a:rPr lang="en-US" sz="2600" b="1" dirty="0">
                <a:solidFill>
                  <a:schemeClr val="accent1"/>
                </a:solidFill>
              </a:rPr>
              <a:t>14</a:t>
            </a:r>
            <a:endParaRPr lang="en-US" sz="2600" dirty="0"/>
          </a:p>
        </p:txBody>
      </p:sp>
      <p:sp>
        <p:nvSpPr>
          <p:cNvPr id="29" name="bound-0-l"/>
          <p:cNvSpPr txBox="1"/>
          <p:nvPr/>
        </p:nvSpPr>
        <p:spPr>
          <a:xfrm>
            <a:off x="6510528" y="4736592"/>
            <a:ext cx="1554480" cy="274320"/>
          </a:xfrm>
          <a:prstGeom prst="rect">
            <a:avLst/>
          </a:prstGeom>
          <a:noFill/>
          <a:ln/>
        </p:spPr>
        <p:txBody>
          <a:bodyPr wrap="square" lIns="0" tIns="0" rIns="0" bIns="0" rtlCol="0" anchor="ctr"/>
          <a:lstStyle/>
          <a:p>
            <a:pPr indent="0" marL="0">
              <a:buNone/>
            </a:pPr>
            <a:r>
              <a:rPr lang="en-US" sz="1150" dirty="0">
                <a:solidFill>
                  <a:srgbClr val="5A6378"/>
                </a:solidFill>
              </a:rPr>
              <a:t>steps</a:t>
            </a:r>
            <a:endParaRPr lang="en-US" sz="1150" dirty="0"/>
          </a:p>
        </p:txBody>
      </p:sp>
      <p:sp>
        <p:nvSpPr>
          <p:cNvPr id="30" name="bound-1-v"/>
          <p:cNvSpPr txBox="1"/>
          <p:nvPr/>
        </p:nvSpPr>
        <p:spPr>
          <a:xfrm>
            <a:off x="8138160" y="4279392"/>
            <a:ext cx="1554480" cy="457200"/>
          </a:xfrm>
          <a:prstGeom prst="rect">
            <a:avLst/>
          </a:prstGeom>
          <a:noFill/>
          <a:ln/>
        </p:spPr>
        <p:txBody>
          <a:bodyPr wrap="square" lIns="0" tIns="0" rIns="0" bIns="0" rtlCol="0" anchor="ctr"/>
          <a:lstStyle/>
          <a:p>
            <a:pPr indent="0" marL="0">
              <a:buNone/>
            </a:pPr>
            <a:r>
              <a:rPr lang="en-US" sz="2600" b="1" dirty="0">
                <a:solidFill>
                  <a:schemeClr val="accent1"/>
                </a:solidFill>
              </a:rPr>
              <a:t>12</a:t>
            </a:r>
            <a:endParaRPr lang="en-US" sz="2600" dirty="0"/>
          </a:p>
        </p:txBody>
      </p:sp>
      <p:sp>
        <p:nvSpPr>
          <p:cNvPr id="31" name="bound-1-l"/>
          <p:cNvSpPr txBox="1"/>
          <p:nvPr/>
        </p:nvSpPr>
        <p:spPr>
          <a:xfrm>
            <a:off x="8138160" y="4736592"/>
            <a:ext cx="1554480" cy="274320"/>
          </a:xfrm>
          <a:prstGeom prst="rect">
            <a:avLst/>
          </a:prstGeom>
          <a:noFill/>
          <a:ln/>
        </p:spPr>
        <p:txBody>
          <a:bodyPr wrap="square" lIns="0" tIns="0" rIns="0" bIns="0" rtlCol="0" anchor="ctr"/>
          <a:lstStyle/>
          <a:p>
            <a:pPr indent="0" marL="0">
              <a:buNone/>
            </a:pPr>
            <a:r>
              <a:rPr lang="en-US" sz="1150" dirty="0">
                <a:solidFill>
                  <a:srgbClr val="5A6378"/>
                </a:solidFill>
              </a:rPr>
              <a:t>tool calls</a:t>
            </a:r>
            <a:endParaRPr lang="en-US" sz="1150" dirty="0"/>
          </a:p>
        </p:txBody>
      </p:sp>
      <p:sp>
        <p:nvSpPr>
          <p:cNvPr id="32" name="bound-2-v"/>
          <p:cNvSpPr txBox="1"/>
          <p:nvPr/>
        </p:nvSpPr>
        <p:spPr>
          <a:xfrm>
            <a:off x="9765792" y="4279392"/>
            <a:ext cx="1554480" cy="457200"/>
          </a:xfrm>
          <a:prstGeom prst="rect">
            <a:avLst/>
          </a:prstGeom>
          <a:noFill/>
          <a:ln/>
        </p:spPr>
        <p:txBody>
          <a:bodyPr wrap="square" lIns="0" tIns="0" rIns="0" bIns="0" rtlCol="0" anchor="ctr"/>
          <a:lstStyle/>
          <a:p>
            <a:pPr indent="0" marL="0">
              <a:buNone/>
            </a:pPr>
            <a:r>
              <a:rPr lang="en-US" sz="2600" b="1" dirty="0">
                <a:solidFill>
                  <a:schemeClr val="accent1"/>
                </a:solidFill>
              </a:rPr>
              <a:t>120s</a:t>
            </a:r>
            <a:endParaRPr lang="en-US" sz="2600" dirty="0"/>
          </a:p>
        </p:txBody>
      </p:sp>
      <p:sp>
        <p:nvSpPr>
          <p:cNvPr id="33" name="bound-2-l"/>
          <p:cNvSpPr txBox="1"/>
          <p:nvPr/>
        </p:nvSpPr>
        <p:spPr>
          <a:xfrm>
            <a:off x="9765792" y="4736592"/>
            <a:ext cx="1554480" cy="274320"/>
          </a:xfrm>
          <a:prstGeom prst="rect">
            <a:avLst/>
          </a:prstGeom>
          <a:noFill/>
          <a:ln/>
        </p:spPr>
        <p:txBody>
          <a:bodyPr wrap="square" lIns="0" tIns="0" rIns="0" bIns="0" rtlCol="0" anchor="ctr"/>
          <a:lstStyle/>
          <a:p>
            <a:pPr indent="0" marL="0">
              <a:buNone/>
            </a:pPr>
            <a:r>
              <a:rPr lang="en-US" sz="1150" dirty="0">
                <a:solidFill>
                  <a:srgbClr val="5A6378"/>
                </a:solidFill>
              </a:rPr>
              <a:t>wall clock</a:t>
            </a:r>
            <a:endParaRPr lang="en-US" sz="1150" dirty="0"/>
          </a:p>
        </p:txBody>
      </p:sp>
      <p:sp>
        <p:nvSpPr>
          <p:cNvPr id="34" name="bounds-note"/>
          <p:cNvSpPr txBox="1"/>
          <p:nvPr/>
        </p:nvSpPr>
        <p:spPr>
          <a:xfrm>
            <a:off x="6510528" y="5120640"/>
            <a:ext cx="4809744" cy="640080"/>
          </a:xfrm>
          <a:prstGeom prst="rect">
            <a:avLst/>
          </a:prstGeom>
          <a:noFill/>
          <a:ln/>
        </p:spPr>
        <p:txBody>
          <a:bodyPr wrap="square" lIns="0" tIns="0" rIns="0" bIns="0" rtlCol="0" anchor="ctr"/>
          <a:lstStyle/>
          <a:p>
            <a:pPr indent="0" marL="0">
              <a:lnSpc>
                <a:spcPct val="112000"/>
              </a:lnSpc>
              <a:buNone/>
            </a:pPr>
            <a:r>
              <a:rPr lang="en-US" sz="1250" dirty="0">
                <a:solidFill>
                  <a:schemeClr val="tx1"/>
                </a:solidFill>
              </a:rPr>
              <a:t>A run that hits a bound escalates and names the bound. It never returns a confident answer.</a:t>
            </a:r>
            <a:endParaRPr lang="en-US" sz="1250" dirty="0"/>
          </a:p>
        </p:txBody>
      </p:sp>
      <p:sp>
        <p:nvSpPr>
          <p:cNvPr id="36"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bg1"/>
                </a:solidFill>
              </a:rPr>
              <a:t>Knowing when not to answer</a:t>
            </a:r>
            <a:endParaRPr lang="en-US" sz="3200" dirty="0"/>
          </a:p>
        </p:txBody>
      </p:sp>
      <p:sp>
        <p:nvSpPr>
          <p:cNvPr id="3" name="verif-det"/>
          <p:cNvSpPr/>
          <p:nvPr/>
        </p:nvSpPr>
        <p:spPr>
          <a:xfrm>
            <a:off x="566928" y="1188720"/>
            <a:ext cx="5358384" cy="2231136"/>
          </a:xfrm>
          <a:prstGeom prst="roundRect">
            <a:avLst>
              <a:gd name="adj" fmla="val 3279"/>
            </a:avLst>
          </a:prstGeom>
          <a:solidFill>
            <a:srgbClr val="2E3346"/>
          </a:solidFill>
          <a:ln/>
        </p:spPr>
      </p:sp>
      <p:sp>
        <p:nvSpPr>
          <p:cNvPr id="4" name="verif-det-tag"/>
          <p:cNvSpPr/>
          <p:nvPr/>
        </p:nvSpPr>
        <p:spPr>
          <a:xfrm>
            <a:off x="841248" y="1389888"/>
            <a:ext cx="1920240" cy="274320"/>
          </a:xfrm>
          <a:prstGeom prst="roundRect">
            <a:avLst>
              <a:gd name="adj" fmla="val 46667"/>
            </a:avLst>
          </a:prstGeom>
          <a:solidFill>
            <a:srgbClr val="3F7D6E"/>
          </a:solidFill>
          <a:ln/>
        </p:spPr>
      </p:sp>
      <p:sp>
        <p:nvSpPr>
          <p:cNvPr id="5" name="verif-det-taglabel"/>
          <p:cNvSpPr txBox="1"/>
          <p:nvPr/>
        </p:nvSpPr>
        <p:spPr>
          <a:xfrm>
            <a:off x="841248" y="1389888"/>
            <a:ext cx="192024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rPr>
              <a:t>CHECK 1 · FREE</a:t>
            </a:r>
            <a:endParaRPr lang="en-US" sz="950" dirty="0"/>
          </a:p>
        </p:txBody>
      </p:sp>
      <p:sp>
        <p:nvSpPr>
          <p:cNvPr id="6" name="verif-det-head"/>
          <p:cNvSpPr txBox="1"/>
          <p:nvPr/>
        </p:nvSpPr>
        <p:spPr>
          <a:xfrm>
            <a:off x="841248" y="1773936"/>
            <a:ext cx="4809744" cy="329184"/>
          </a:xfrm>
          <a:prstGeom prst="rect">
            <a:avLst/>
          </a:prstGeom>
          <a:noFill/>
          <a:ln/>
        </p:spPr>
        <p:txBody>
          <a:bodyPr wrap="square" lIns="0" tIns="0" rIns="0" bIns="0" rtlCol="0" anchor="ctr"/>
          <a:lstStyle/>
          <a:p>
            <a:pPr indent="0" marL="0">
              <a:buNone/>
            </a:pPr>
            <a:r>
              <a:rPr lang="en-US" sz="1600" b="1" dirty="0">
                <a:solidFill>
                  <a:srgbClr val="FFFFFF"/>
                </a:solidFill>
              </a:rPr>
              <a:t>Does every quote actually exist?</a:t>
            </a:r>
            <a:endParaRPr lang="en-US" sz="1600" dirty="0"/>
          </a:p>
        </p:txBody>
      </p:sp>
      <p:sp>
        <p:nvSpPr>
          <p:cNvPr id="7" name="verif-det-body"/>
          <p:cNvSpPr txBox="1"/>
          <p:nvPr/>
        </p:nvSpPr>
        <p:spPr>
          <a:xfrm>
            <a:off x="841248" y="2157984"/>
            <a:ext cx="4809744" cy="1133856"/>
          </a:xfrm>
          <a:prstGeom prst="rect">
            <a:avLst/>
          </a:prstGeom>
          <a:noFill/>
          <a:ln/>
        </p:spPr>
        <p:txBody>
          <a:bodyPr wrap="square" lIns="0" tIns="0" rIns="0" bIns="0" rtlCol="0" anchor="ctr"/>
          <a:lstStyle/>
          <a:p>
            <a:pPr indent="0" marL="0">
              <a:lnSpc>
                <a:spcPct val="114000"/>
              </a:lnSpc>
              <a:buNone/>
            </a:pPr>
            <a:r>
              <a:rPr lang="en-US" sz="1300" dirty="0">
                <a:solidFill>
                  <a:srgbClr val="C2C8D6"/>
                </a:solidFill>
              </a:rPr>
              <a:t>Each citation's quote is matched character-for-character against the clause it is attributed to. No model is needed to answer that, and none should be trusted with it. A citation that does not resolve is a fabrication whatever a verifier says about it.</a:t>
            </a:r>
            <a:endParaRPr lang="en-US" sz="1300" dirty="0"/>
          </a:p>
        </p:txBody>
      </p:sp>
      <p:sp>
        <p:nvSpPr>
          <p:cNvPr id="8" name="verif-model"/>
          <p:cNvSpPr/>
          <p:nvPr/>
        </p:nvSpPr>
        <p:spPr>
          <a:xfrm>
            <a:off x="6236208" y="1188720"/>
            <a:ext cx="5358384" cy="2231136"/>
          </a:xfrm>
          <a:prstGeom prst="roundRect">
            <a:avLst>
              <a:gd name="adj" fmla="val 3279"/>
            </a:avLst>
          </a:prstGeom>
          <a:solidFill>
            <a:srgbClr val="2E3346"/>
          </a:solidFill>
          <a:ln/>
        </p:spPr>
      </p:sp>
      <p:sp>
        <p:nvSpPr>
          <p:cNvPr id="9" name="verif-model-tag"/>
          <p:cNvSpPr/>
          <p:nvPr/>
        </p:nvSpPr>
        <p:spPr>
          <a:xfrm>
            <a:off x="6510528" y="1389888"/>
            <a:ext cx="1920240" cy="274320"/>
          </a:xfrm>
          <a:prstGeom prst="roundRect">
            <a:avLst>
              <a:gd name="adj" fmla="val 46667"/>
            </a:avLst>
          </a:prstGeom>
          <a:solidFill>
            <a:srgbClr val="E0A458"/>
          </a:solidFill>
          <a:ln/>
        </p:spPr>
      </p:sp>
      <p:sp>
        <p:nvSpPr>
          <p:cNvPr id="10" name="verif-model-taglabel"/>
          <p:cNvSpPr txBox="1"/>
          <p:nvPr/>
        </p:nvSpPr>
        <p:spPr>
          <a:xfrm>
            <a:off x="6510528" y="1389888"/>
            <a:ext cx="1920240" cy="274320"/>
          </a:xfrm>
          <a:prstGeom prst="rect">
            <a:avLst/>
          </a:prstGeom>
          <a:noFill/>
          <a:ln/>
        </p:spPr>
        <p:txBody>
          <a:bodyPr wrap="square" lIns="0" tIns="0" rIns="0" bIns="0" rtlCol="0" anchor="ctr"/>
          <a:lstStyle/>
          <a:p>
            <a:pPr algn="ctr" indent="0" marL="0">
              <a:buNone/>
            </a:pPr>
            <a:r>
              <a:rPr lang="en-US" sz="950" b="1" spc="100" kern="0" dirty="0">
                <a:solidFill>
                  <a:srgbClr val="232738"/>
                </a:solidFill>
              </a:rPr>
              <a:t>CHECK 2 · MODEL</a:t>
            </a:r>
            <a:endParaRPr lang="en-US" sz="950" dirty="0"/>
          </a:p>
        </p:txBody>
      </p:sp>
      <p:sp>
        <p:nvSpPr>
          <p:cNvPr id="11" name="verif-model-head"/>
          <p:cNvSpPr txBox="1"/>
          <p:nvPr/>
        </p:nvSpPr>
        <p:spPr>
          <a:xfrm>
            <a:off x="6510528" y="1773936"/>
            <a:ext cx="4809744" cy="329184"/>
          </a:xfrm>
          <a:prstGeom prst="rect">
            <a:avLst/>
          </a:prstGeom>
          <a:noFill/>
          <a:ln/>
        </p:spPr>
        <p:txBody>
          <a:bodyPr wrap="square" lIns="0" tIns="0" rIns="0" bIns="0" rtlCol="0" anchor="ctr"/>
          <a:lstStyle/>
          <a:p>
            <a:pPr indent="0" marL="0">
              <a:buNone/>
            </a:pPr>
            <a:r>
              <a:rPr lang="en-US" sz="1600" b="1" dirty="0">
                <a:solidFill>
                  <a:srgbClr val="FFFFFF"/>
                </a:solidFill>
              </a:rPr>
              <a:t>Is each claim actually entailed?</a:t>
            </a:r>
            <a:endParaRPr lang="en-US" sz="1600" dirty="0"/>
          </a:p>
        </p:txBody>
      </p:sp>
      <p:sp>
        <p:nvSpPr>
          <p:cNvPr id="12" name="verif-model-body"/>
          <p:cNvSpPr txBox="1"/>
          <p:nvPr/>
        </p:nvSpPr>
        <p:spPr>
          <a:xfrm>
            <a:off x="6510528" y="2157984"/>
            <a:ext cx="4809744" cy="1133856"/>
          </a:xfrm>
          <a:prstGeom prst="rect">
            <a:avLst/>
          </a:prstGeom>
          <a:noFill/>
          <a:ln/>
        </p:spPr>
        <p:txBody>
          <a:bodyPr wrap="square" lIns="0" tIns="0" rIns="0" bIns="0" rtlCol="0" anchor="ctr"/>
          <a:lstStyle/>
          <a:p>
            <a:pPr indent="0" marL="0">
              <a:lnSpc>
                <a:spcPct val="114000"/>
              </a:lnSpc>
              <a:buNone/>
            </a:pPr>
            <a:r>
              <a:rPr lang="en-US" sz="1300" dirty="0">
                <a:solidFill>
                  <a:srgbClr val="C2C8D6"/>
                </a:solidFill>
              </a:rPr>
              <a:t>Per-claim entailment against the passages that were available. “Consistent with” is not support. A statement the analyst could only have made by drawing on general insurance knowledge is unsupported, however correct it happens to be.</a:t>
            </a:r>
            <a:endParaRPr lang="en-US" sz="1300" dirty="0"/>
          </a:p>
        </p:txBody>
      </p:sp>
      <p:sp>
        <p:nvSpPr>
          <p:cNvPr id="13" name="invariant"/>
          <p:cNvSpPr/>
          <p:nvPr/>
        </p:nvSpPr>
        <p:spPr>
          <a:xfrm>
            <a:off x="566928" y="3602736"/>
            <a:ext cx="11027664" cy="1060704"/>
          </a:xfrm>
          <a:prstGeom prst="roundRect">
            <a:avLst>
              <a:gd name="adj" fmla="val 6897"/>
            </a:avLst>
          </a:prstGeom>
          <a:solidFill>
            <a:srgbClr val="3A2F2E"/>
          </a:solidFill>
          <a:ln/>
        </p:spPr>
      </p:sp>
      <p:sp>
        <p:nvSpPr>
          <p:cNvPr id="14" name="invariant-head"/>
          <p:cNvSpPr txBox="1"/>
          <p:nvPr/>
        </p:nvSpPr>
        <p:spPr>
          <a:xfrm>
            <a:off x="877824" y="3730752"/>
            <a:ext cx="10405872" cy="292608"/>
          </a:xfrm>
          <a:prstGeom prst="rect">
            <a:avLst/>
          </a:prstGeom>
          <a:noFill/>
          <a:ln/>
        </p:spPr>
        <p:txBody>
          <a:bodyPr wrap="square" lIns="0" tIns="0" rIns="0" bIns="0" rtlCol="0" anchor="ctr"/>
          <a:lstStyle/>
          <a:p>
            <a:pPr indent="0" marL="0">
              <a:buNone/>
            </a:pPr>
            <a:r>
              <a:rPr lang="en-US" sz="1500" b="1" dirty="0">
                <a:solidFill>
                  <a:srgbClr val="F3E3DF"/>
                </a:solidFill>
              </a:rPr>
              <a:t>Then, before the result is assembled: citations that did not resolve are dropped.</a:t>
            </a:r>
            <a:endParaRPr lang="en-US" sz="1500" dirty="0"/>
          </a:p>
        </p:txBody>
      </p:sp>
      <p:sp>
        <p:nvSpPr>
          <p:cNvPr id="15" name="invariant-body"/>
          <p:cNvSpPr txBox="1"/>
          <p:nvPr/>
        </p:nvSpPr>
        <p:spPr>
          <a:xfrm>
            <a:off x="877824" y="4041648"/>
            <a:ext cx="10405872" cy="512064"/>
          </a:xfrm>
          <a:prstGeom prst="rect">
            <a:avLst/>
          </a:prstGeom>
          <a:noFill/>
          <a:ln/>
        </p:spPr>
        <p:txBody>
          <a:bodyPr wrap="square" lIns="0" tIns="0" rIns="0" bIns="0" rtlCol="0" anchor="ctr"/>
          <a:lstStyle/>
          <a:p>
            <a:pPr indent="0" marL="0">
              <a:buNone/>
            </a:pPr>
            <a:r>
              <a:rPr lang="en-US" sz="1300" dirty="0">
                <a:solidFill>
                  <a:srgbClr val="D8C9C5"/>
                </a:solidFill>
              </a:rPr>
              <a:t>“Every citation must resolve to retrieved text” is therefore a property of the response object, not an instruction in a prompt — and it is tested as one.</a:t>
            </a:r>
            <a:endParaRPr lang="en-US" sz="1300" dirty="0"/>
          </a:p>
        </p:txBody>
      </p:sp>
      <p:sp>
        <p:nvSpPr>
          <p:cNvPr id="16" name="esc-head"/>
          <p:cNvSpPr txBox="1"/>
          <p:nvPr/>
        </p:nvSpPr>
        <p:spPr>
          <a:xfrm>
            <a:off x="566928" y="4828032"/>
            <a:ext cx="11027664" cy="310896"/>
          </a:xfrm>
          <a:prstGeom prst="rect">
            <a:avLst/>
          </a:prstGeom>
          <a:noFill/>
          <a:ln/>
        </p:spPr>
        <p:txBody>
          <a:bodyPr wrap="square" lIns="0" tIns="0" rIns="0" bIns="0" rtlCol="0" anchor="ctr"/>
          <a:lstStyle/>
          <a:p>
            <a:pPr indent="0" marL="0">
              <a:buNone/>
            </a:pPr>
            <a:r>
              <a:rPr lang="en-US" sz="1400" b="1" dirty="0">
                <a:solidFill>
                  <a:srgbClr val="E0A458"/>
                </a:solidFill>
              </a:rPr>
              <a:t>Eight reasons a run will decline to answer</a:t>
            </a:r>
            <a:endParaRPr lang="en-US" sz="1400" dirty="0"/>
          </a:p>
        </p:txBody>
      </p:sp>
      <p:sp>
        <p:nvSpPr>
          <p:cNvPr id="17" name="reason-0-box"/>
          <p:cNvSpPr/>
          <p:nvPr/>
        </p:nvSpPr>
        <p:spPr>
          <a:xfrm>
            <a:off x="566928" y="5193792"/>
            <a:ext cx="2615184" cy="329184"/>
          </a:xfrm>
          <a:prstGeom prst="roundRect">
            <a:avLst>
              <a:gd name="adj" fmla="val 16667"/>
            </a:avLst>
          </a:prstGeom>
          <a:solidFill>
            <a:srgbClr val="2E3346"/>
          </a:solidFill>
          <a:ln/>
        </p:spPr>
      </p:sp>
      <p:sp>
        <p:nvSpPr>
          <p:cNvPr id="18" name="reason-0"/>
          <p:cNvSpPr txBox="1"/>
          <p:nvPr/>
        </p:nvSpPr>
        <p:spPr>
          <a:xfrm>
            <a:off x="713232" y="5193792"/>
            <a:ext cx="2377440" cy="329184"/>
          </a:xfrm>
          <a:prstGeom prst="rect">
            <a:avLst/>
          </a:prstGeom>
          <a:noFill/>
          <a:ln/>
        </p:spPr>
        <p:txBody>
          <a:bodyPr wrap="square" lIns="0" tIns="0" rIns="0" bIns="0" rtlCol="0" anchor="ctr"/>
          <a:lstStyle/>
          <a:p>
            <a:pPr indent="0" marL="0">
              <a:buNone/>
            </a:pPr>
            <a:r>
              <a:rPr lang="en-US" sz="1100" dirty="0">
                <a:solidFill>
                  <a:srgbClr val="A7BEAE"/>
                </a:solidFill>
              </a:rPr>
              <a:t>weak_retrieval</a:t>
            </a:r>
            <a:endParaRPr lang="en-US" sz="1100" dirty="0"/>
          </a:p>
        </p:txBody>
      </p:sp>
      <p:sp>
        <p:nvSpPr>
          <p:cNvPr id="19" name="reason-1-box"/>
          <p:cNvSpPr/>
          <p:nvPr/>
        </p:nvSpPr>
        <p:spPr>
          <a:xfrm>
            <a:off x="3374136" y="5193792"/>
            <a:ext cx="2615184" cy="329184"/>
          </a:xfrm>
          <a:prstGeom prst="roundRect">
            <a:avLst>
              <a:gd name="adj" fmla="val 16667"/>
            </a:avLst>
          </a:prstGeom>
          <a:solidFill>
            <a:srgbClr val="2E3346"/>
          </a:solidFill>
          <a:ln/>
        </p:spPr>
      </p:sp>
      <p:sp>
        <p:nvSpPr>
          <p:cNvPr id="20" name="reason-1"/>
          <p:cNvSpPr txBox="1"/>
          <p:nvPr/>
        </p:nvSpPr>
        <p:spPr>
          <a:xfrm>
            <a:off x="3520440" y="5193792"/>
            <a:ext cx="2377440" cy="329184"/>
          </a:xfrm>
          <a:prstGeom prst="rect">
            <a:avLst/>
          </a:prstGeom>
          <a:noFill/>
          <a:ln/>
        </p:spPr>
        <p:txBody>
          <a:bodyPr wrap="square" lIns="0" tIns="0" rIns="0" bIns="0" rtlCol="0" anchor="ctr"/>
          <a:lstStyle/>
          <a:p>
            <a:pPr indent="0" marL="0">
              <a:buNone/>
            </a:pPr>
            <a:r>
              <a:rPr lang="en-US" sz="1100" dirty="0">
                <a:solidFill>
                  <a:srgbClr val="A7BEAE"/>
                </a:solidFill>
              </a:rPr>
              <a:t>conflicting_clauses</a:t>
            </a:r>
            <a:endParaRPr lang="en-US" sz="1100" dirty="0"/>
          </a:p>
        </p:txBody>
      </p:sp>
      <p:sp>
        <p:nvSpPr>
          <p:cNvPr id="21" name="reason-2-box"/>
          <p:cNvSpPr/>
          <p:nvPr/>
        </p:nvSpPr>
        <p:spPr>
          <a:xfrm>
            <a:off x="6181344" y="5193792"/>
            <a:ext cx="2615184" cy="329184"/>
          </a:xfrm>
          <a:prstGeom prst="roundRect">
            <a:avLst>
              <a:gd name="adj" fmla="val 16667"/>
            </a:avLst>
          </a:prstGeom>
          <a:solidFill>
            <a:srgbClr val="2E3346"/>
          </a:solidFill>
          <a:ln/>
        </p:spPr>
      </p:sp>
      <p:sp>
        <p:nvSpPr>
          <p:cNvPr id="22" name="reason-2"/>
          <p:cNvSpPr txBox="1"/>
          <p:nvPr/>
        </p:nvSpPr>
        <p:spPr>
          <a:xfrm>
            <a:off x="6327648" y="5193792"/>
            <a:ext cx="2377440" cy="329184"/>
          </a:xfrm>
          <a:prstGeom prst="rect">
            <a:avLst/>
          </a:prstGeom>
          <a:noFill/>
          <a:ln/>
        </p:spPr>
        <p:txBody>
          <a:bodyPr wrap="square" lIns="0" tIns="0" rIns="0" bIns="0" rtlCol="0" anchor="ctr"/>
          <a:lstStyle/>
          <a:p>
            <a:pPr indent="0" marL="0">
              <a:buNone/>
            </a:pPr>
            <a:r>
              <a:rPr lang="en-US" sz="1100" dirty="0">
                <a:solidFill>
                  <a:srgbClr val="A7BEAE"/>
                </a:solidFill>
              </a:rPr>
              <a:t>outside_corpus</a:t>
            </a:r>
            <a:endParaRPr lang="en-US" sz="1100" dirty="0"/>
          </a:p>
        </p:txBody>
      </p:sp>
      <p:sp>
        <p:nvSpPr>
          <p:cNvPr id="23" name="reason-3-box"/>
          <p:cNvSpPr/>
          <p:nvPr/>
        </p:nvSpPr>
        <p:spPr>
          <a:xfrm>
            <a:off x="8988552" y="5193792"/>
            <a:ext cx="2615184" cy="329184"/>
          </a:xfrm>
          <a:prstGeom prst="roundRect">
            <a:avLst>
              <a:gd name="adj" fmla="val 16667"/>
            </a:avLst>
          </a:prstGeom>
          <a:solidFill>
            <a:srgbClr val="2E3346"/>
          </a:solidFill>
          <a:ln/>
        </p:spPr>
      </p:sp>
      <p:sp>
        <p:nvSpPr>
          <p:cNvPr id="24" name="reason-3"/>
          <p:cNvSpPr txBox="1"/>
          <p:nvPr/>
        </p:nvSpPr>
        <p:spPr>
          <a:xfrm>
            <a:off x="9134856" y="5193792"/>
            <a:ext cx="2377440" cy="329184"/>
          </a:xfrm>
          <a:prstGeom prst="rect">
            <a:avLst/>
          </a:prstGeom>
          <a:noFill/>
          <a:ln/>
        </p:spPr>
        <p:txBody>
          <a:bodyPr wrap="square" lIns="0" tIns="0" rIns="0" bIns="0" rtlCol="0" anchor="ctr"/>
          <a:lstStyle/>
          <a:p>
            <a:pPr indent="0" marL="0">
              <a:buNone/>
            </a:pPr>
            <a:r>
              <a:rPr lang="en-US" sz="1100" dirty="0">
                <a:solidFill>
                  <a:srgbClr val="A7BEAE"/>
                </a:solidFill>
              </a:rPr>
              <a:t>verification_failed</a:t>
            </a:r>
            <a:endParaRPr lang="en-US" sz="1100" dirty="0"/>
          </a:p>
        </p:txBody>
      </p:sp>
      <p:sp>
        <p:nvSpPr>
          <p:cNvPr id="25" name="reason-4-box"/>
          <p:cNvSpPr/>
          <p:nvPr/>
        </p:nvSpPr>
        <p:spPr>
          <a:xfrm>
            <a:off x="566928" y="5614416"/>
            <a:ext cx="2615184" cy="329184"/>
          </a:xfrm>
          <a:prstGeom prst="roundRect">
            <a:avLst>
              <a:gd name="adj" fmla="val 16667"/>
            </a:avLst>
          </a:prstGeom>
          <a:solidFill>
            <a:srgbClr val="2E3346"/>
          </a:solidFill>
          <a:ln/>
        </p:spPr>
      </p:sp>
      <p:sp>
        <p:nvSpPr>
          <p:cNvPr id="26" name="reason-4"/>
          <p:cNvSpPr txBox="1"/>
          <p:nvPr/>
        </p:nvSpPr>
        <p:spPr>
          <a:xfrm>
            <a:off x="713232" y="5614416"/>
            <a:ext cx="2377440" cy="329184"/>
          </a:xfrm>
          <a:prstGeom prst="rect">
            <a:avLst/>
          </a:prstGeom>
          <a:noFill/>
          <a:ln/>
        </p:spPr>
        <p:txBody>
          <a:bodyPr wrap="square" lIns="0" tIns="0" rIns="0" bIns="0" rtlCol="0" anchor="ctr"/>
          <a:lstStyle/>
          <a:p>
            <a:pPr indent="0" marL="0">
              <a:buNone/>
            </a:pPr>
            <a:r>
              <a:rPr lang="en-US" sz="1100" dirty="0">
                <a:solidFill>
                  <a:srgbClr val="A7BEAE"/>
                </a:solidFill>
              </a:rPr>
              <a:t>loop_budget_exhausted</a:t>
            </a:r>
            <a:endParaRPr lang="en-US" sz="1100" dirty="0"/>
          </a:p>
        </p:txBody>
      </p:sp>
      <p:sp>
        <p:nvSpPr>
          <p:cNvPr id="27" name="reason-5-box"/>
          <p:cNvSpPr/>
          <p:nvPr/>
        </p:nvSpPr>
        <p:spPr>
          <a:xfrm>
            <a:off x="3374136" y="5614416"/>
            <a:ext cx="2615184" cy="329184"/>
          </a:xfrm>
          <a:prstGeom prst="roundRect">
            <a:avLst>
              <a:gd name="adj" fmla="val 16667"/>
            </a:avLst>
          </a:prstGeom>
          <a:solidFill>
            <a:srgbClr val="2E3346"/>
          </a:solidFill>
          <a:ln/>
        </p:spPr>
      </p:sp>
      <p:sp>
        <p:nvSpPr>
          <p:cNvPr id="28" name="reason-5"/>
          <p:cNvSpPr txBox="1"/>
          <p:nvPr/>
        </p:nvSpPr>
        <p:spPr>
          <a:xfrm>
            <a:off x="3520440" y="5614416"/>
            <a:ext cx="2377440" cy="329184"/>
          </a:xfrm>
          <a:prstGeom prst="rect">
            <a:avLst/>
          </a:prstGeom>
          <a:noFill/>
          <a:ln/>
        </p:spPr>
        <p:txBody>
          <a:bodyPr wrap="square" lIns="0" tIns="0" rIns="0" bIns="0" rtlCol="0" anchor="ctr"/>
          <a:lstStyle/>
          <a:p>
            <a:pPr indent="0" marL="0">
              <a:buNone/>
            </a:pPr>
            <a:r>
              <a:rPr lang="en-US" sz="1100" dirty="0">
                <a:solidFill>
                  <a:srgbClr val="A7BEAE"/>
                </a:solidFill>
              </a:rPr>
              <a:t>provider_unavailable</a:t>
            </a:r>
            <a:endParaRPr lang="en-US" sz="1100" dirty="0"/>
          </a:p>
        </p:txBody>
      </p:sp>
      <p:sp>
        <p:nvSpPr>
          <p:cNvPr id="29" name="reason-6-box"/>
          <p:cNvSpPr/>
          <p:nvPr/>
        </p:nvSpPr>
        <p:spPr>
          <a:xfrm>
            <a:off x="6181344" y="5614416"/>
            <a:ext cx="2615184" cy="329184"/>
          </a:xfrm>
          <a:prstGeom prst="roundRect">
            <a:avLst>
              <a:gd name="adj" fmla="val 16667"/>
            </a:avLst>
          </a:prstGeom>
          <a:solidFill>
            <a:srgbClr val="2E3346"/>
          </a:solidFill>
          <a:ln/>
        </p:spPr>
      </p:sp>
      <p:sp>
        <p:nvSpPr>
          <p:cNvPr id="30" name="reason-6"/>
          <p:cNvSpPr txBox="1"/>
          <p:nvPr/>
        </p:nvSpPr>
        <p:spPr>
          <a:xfrm>
            <a:off x="6327648" y="5614416"/>
            <a:ext cx="2377440" cy="329184"/>
          </a:xfrm>
          <a:prstGeom prst="rect">
            <a:avLst/>
          </a:prstGeom>
          <a:noFill/>
          <a:ln/>
        </p:spPr>
        <p:txBody>
          <a:bodyPr wrap="square" lIns="0" tIns="0" rIns="0" bIns="0" rtlCol="0" anchor="ctr"/>
          <a:lstStyle/>
          <a:p>
            <a:pPr indent="0" marL="0">
              <a:buNone/>
            </a:pPr>
            <a:r>
              <a:rPr lang="en-US" sz="1100" dirty="0">
                <a:solidFill>
                  <a:srgbClr val="A7BEAE"/>
                </a:solidFill>
              </a:rPr>
              <a:t>guardrail_block</a:t>
            </a:r>
            <a:endParaRPr lang="en-US" sz="1100" dirty="0"/>
          </a:p>
        </p:txBody>
      </p:sp>
      <p:sp>
        <p:nvSpPr>
          <p:cNvPr id="31" name="reason-7-box"/>
          <p:cNvSpPr/>
          <p:nvPr/>
        </p:nvSpPr>
        <p:spPr>
          <a:xfrm>
            <a:off x="8988552" y="5614416"/>
            <a:ext cx="2615184" cy="329184"/>
          </a:xfrm>
          <a:prstGeom prst="roundRect">
            <a:avLst>
              <a:gd name="adj" fmla="val 16667"/>
            </a:avLst>
          </a:prstGeom>
          <a:solidFill>
            <a:srgbClr val="2E3346"/>
          </a:solidFill>
          <a:ln/>
        </p:spPr>
      </p:sp>
      <p:sp>
        <p:nvSpPr>
          <p:cNvPr id="32" name="reason-7"/>
          <p:cNvSpPr txBox="1"/>
          <p:nvPr/>
        </p:nvSpPr>
        <p:spPr>
          <a:xfrm>
            <a:off x="9134856" y="5614416"/>
            <a:ext cx="2377440" cy="329184"/>
          </a:xfrm>
          <a:prstGeom prst="rect">
            <a:avLst/>
          </a:prstGeom>
          <a:noFill/>
          <a:ln/>
        </p:spPr>
        <p:txBody>
          <a:bodyPr wrap="square" lIns="0" tIns="0" rIns="0" bIns="0" rtlCol="0" anchor="ctr"/>
          <a:lstStyle/>
          <a:p>
            <a:pPr indent="0" marL="0">
              <a:buNone/>
            </a:pPr>
            <a:r>
              <a:rPr lang="en-US" sz="1100" dirty="0">
                <a:solidFill>
                  <a:srgbClr val="A7BEAE"/>
                </a:solidFill>
              </a:rPr>
              <a:t>policy_requires_human</a:t>
            </a:r>
            <a:endParaRPr lang="en-US" sz="1100" dirty="0"/>
          </a:p>
        </p:txBody>
      </p:sp>
      <p:sp>
        <p:nvSpPr>
          <p:cNvPr id="34"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E768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Ten services, and why each boundary is a boundary</a:t>
            </a:r>
            <a:endParaRPr lang="en-US" sz="3200" dirty="0"/>
          </a:p>
        </p:txBody>
      </p:sp>
      <p:sp>
        <p:nvSpPr>
          <p:cNvPr id="3" name="bnd-0"/>
          <p:cNvSpPr/>
          <p:nvPr/>
        </p:nvSpPr>
        <p:spPr>
          <a:xfrm>
            <a:off x="566928" y="1225296"/>
            <a:ext cx="11027664" cy="1024128"/>
          </a:xfrm>
          <a:prstGeom prst="roundRect">
            <a:avLst>
              <a:gd name="adj" fmla="val 7143"/>
            </a:avLst>
          </a:prstGeom>
          <a:solidFill>
            <a:schemeClr val="bg2"/>
          </a:solidFill>
          <a:ln/>
        </p:spPr>
      </p:sp>
      <p:sp>
        <p:nvSpPr>
          <p:cNvPr id="4" name="bnd-0-key"/>
          <p:cNvSpPr/>
          <p:nvPr/>
        </p:nvSpPr>
        <p:spPr>
          <a:xfrm>
            <a:off x="566928" y="1225296"/>
            <a:ext cx="82296" cy="1024128"/>
          </a:xfrm>
          <a:prstGeom prst="roundRect">
            <a:avLst>
              <a:gd name="adj" fmla="val 44444"/>
            </a:avLst>
          </a:prstGeom>
          <a:solidFill>
            <a:srgbClr val="B85042"/>
          </a:solidFill>
          <a:ln/>
        </p:spPr>
      </p:sp>
      <p:sp>
        <p:nvSpPr>
          <p:cNvPr id="5" name="bnd-0-name"/>
          <p:cNvSpPr txBox="1"/>
          <p:nvPr/>
        </p:nvSpPr>
        <p:spPr>
          <a:xfrm>
            <a:off x="859536" y="1353312"/>
            <a:ext cx="3017520" cy="365760"/>
          </a:xfrm>
          <a:prstGeom prst="rect">
            <a:avLst/>
          </a:prstGeom>
          <a:noFill/>
          <a:ln/>
        </p:spPr>
        <p:txBody>
          <a:bodyPr wrap="square" lIns="0" tIns="0" rIns="0" bIns="0" rtlCol="0" anchor="ctr"/>
          <a:lstStyle/>
          <a:p>
            <a:pPr indent="0" marL="0">
              <a:buNone/>
            </a:pPr>
            <a:r>
              <a:rPr lang="en-US" sz="1350" b="1" dirty="0">
                <a:solidFill>
                  <a:schemeClr val="tx2"/>
                </a:solidFill>
              </a:rPr>
              <a:t>api  ↔  worker</a:t>
            </a:r>
            <a:endParaRPr lang="en-US" sz="1350" dirty="0"/>
          </a:p>
        </p:txBody>
      </p:sp>
      <p:sp>
        <p:nvSpPr>
          <p:cNvPr id="6" name="bnd-0-why"/>
          <p:cNvSpPr txBox="1"/>
          <p:nvPr/>
        </p:nvSpPr>
        <p:spPr>
          <a:xfrm>
            <a:off x="859536" y="1737360"/>
            <a:ext cx="3017520" cy="329184"/>
          </a:xfrm>
          <a:prstGeom prst="rect">
            <a:avLst/>
          </a:prstGeom>
          <a:noFill/>
          <a:ln/>
        </p:spPr>
        <p:txBody>
          <a:bodyPr wrap="square" lIns="0" tIns="0" rIns="0" bIns="0" rtlCol="0" anchor="ctr"/>
          <a:lstStyle/>
          <a:p>
            <a:pPr indent="0" marL="0">
              <a:buNone/>
            </a:pPr>
            <a:r>
              <a:rPr lang="en-US" sz="1100" b="1" dirty="0">
                <a:solidFill>
                  <a:srgbClr val="B85042"/>
                </a:solidFill>
              </a:rPr>
              <a:t>Scaling and failure isolation</a:t>
            </a:r>
            <a:endParaRPr lang="en-US" sz="1100" dirty="0"/>
          </a:p>
        </p:txBody>
      </p:sp>
      <p:sp>
        <p:nvSpPr>
          <p:cNvPr id="7" name="bnd-0-body"/>
          <p:cNvSpPr txBox="1"/>
          <p:nvPr/>
        </p:nvSpPr>
        <p:spPr>
          <a:xfrm>
            <a:off x="4059936" y="1371600"/>
            <a:ext cx="7406640" cy="749808"/>
          </a:xfrm>
          <a:prstGeom prst="rect">
            <a:avLst/>
          </a:prstGeom>
          <a:noFill/>
          <a:ln/>
        </p:spPr>
        <p:txBody>
          <a:bodyPr wrap="square" lIns="0" tIns="0" rIns="0" bIns="0" rtlCol="0" anchor="ctr"/>
          <a:lstStyle/>
          <a:p>
            <a:pPr indent="0" marL="0">
              <a:lnSpc>
                <a:spcPct val="112000"/>
              </a:lnSpc>
              <a:buNone/>
            </a:pPr>
            <a:r>
              <a:rPr lang="en-US" sz="1250" dirty="0">
                <a:solidFill>
                  <a:schemeClr val="tx1"/>
                </a:solidFill>
              </a:rPr>
              <a:t>The API is microseconds per request and must stay up. The worker is seconds-to-a-minute and is the only process that talks to a model. A worker wedged on a provider timeout must not stop submissions.</a:t>
            </a:r>
            <a:endParaRPr lang="en-US" sz="1250" dirty="0"/>
          </a:p>
        </p:txBody>
      </p:sp>
      <p:sp>
        <p:nvSpPr>
          <p:cNvPr id="8" name="bnd-1"/>
          <p:cNvSpPr/>
          <p:nvPr/>
        </p:nvSpPr>
        <p:spPr>
          <a:xfrm>
            <a:off x="566928" y="2377440"/>
            <a:ext cx="11027664" cy="1024128"/>
          </a:xfrm>
          <a:prstGeom prst="roundRect">
            <a:avLst>
              <a:gd name="adj" fmla="val 7143"/>
            </a:avLst>
          </a:prstGeom>
          <a:solidFill>
            <a:schemeClr val="bg2"/>
          </a:solidFill>
          <a:ln/>
        </p:spPr>
      </p:sp>
      <p:sp>
        <p:nvSpPr>
          <p:cNvPr id="9" name="bnd-1-key"/>
          <p:cNvSpPr/>
          <p:nvPr/>
        </p:nvSpPr>
        <p:spPr>
          <a:xfrm>
            <a:off x="566928" y="2377440"/>
            <a:ext cx="82296" cy="1024128"/>
          </a:xfrm>
          <a:prstGeom prst="roundRect">
            <a:avLst>
              <a:gd name="adj" fmla="val 44444"/>
            </a:avLst>
          </a:prstGeom>
          <a:solidFill>
            <a:srgbClr val="E0A458"/>
          </a:solidFill>
          <a:ln/>
        </p:spPr>
      </p:sp>
      <p:sp>
        <p:nvSpPr>
          <p:cNvPr id="10" name="bnd-1-name"/>
          <p:cNvSpPr txBox="1"/>
          <p:nvPr/>
        </p:nvSpPr>
        <p:spPr>
          <a:xfrm>
            <a:off x="859536" y="2505456"/>
            <a:ext cx="3017520" cy="365760"/>
          </a:xfrm>
          <a:prstGeom prst="rect">
            <a:avLst/>
          </a:prstGeom>
          <a:noFill/>
          <a:ln/>
        </p:spPr>
        <p:txBody>
          <a:bodyPr wrap="square" lIns="0" tIns="0" rIns="0" bIns="0" rtlCol="0" anchor="ctr"/>
          <a:lstStyle/>
          <a:p>
            <a:pPr indent="0" marL="0">
              <a:buNone/>
            </a:pPr>
            <a:r>
              <a:rPr lang="en-US" sz="1350" b="1" dirty="0">
                <a:solidFill>
                  <a:schemeClr val="tx2"/>
                </a:solidFill>
              </a:rPr>
              <a:t>worker  ↔  chroma</a:t>
            </a:r>
            <a:endParaRPr lang="en-US" sz="1350" dirty="0"/>
          </a:p>
        </p:txBody>
      </p:sp>
      <p:sp>
        <p:nvSpPr>
          <p:cNvPr id="11" name="bnd-1-why"/>
          <p:cNvSpPr txBox="1"/>
          <p:nvPr/>
        </p:nvSpPr>
        <p:spPr>
          <a:xfrm>
            <a:off x="859536" y="2889504"/>
            <a:ext cx="3017520" cy="329184"/>
          </a:xfrm>
          <a:prstGeom prst="rect">
            <a:avLst/>
          </a:prstGeom>
          <a:noFill/>
          <a:ln/>
        </p:spPr>
        <p:txBody>
          <a:bodyPr wrap="square" lIns="0" tIns="0" rIns="0" bIns="0" rtlCol="0" anchor="ctr"/>
          <a:lstStyle/>
          <a:p>
            <a:pPr indent="0" marL="0">
              <a:buNone/>
            </a:pPr>
            <a:r>
              <a:rPr lang="en-US" sz="1100" b="1" dirty="0">
                <a:solidFill>
                  <a:srgbClr val="E0A458"/>
                </a:solidFill>
              </a:rPr>
              <a:t>Resource profile and release cadence</a:t>
            </a:r>
            <a:endParaRPr lang="en-US" sz="1100" dirty="0"/>
          </a:p>
        </p:txBody>
      </p:sp>
      <p:sp>
        <p:nvSpPr>
          <p:cNvPr id="12" name="bnd-1-body"/>
          <p:cNvSpPr txBox="1"/>
          <p:nvPr/>
        </p:nvSpPr>
        <p:spPr>
          <a:xfrm>
            <a:off x="4059936" y="2523744"/>
            <a:ext cx="7406640" cy="749808"/>
          </a:xfrm>
          <a:prstGeom prst="rect">
            <a:avLst/>
          </a:prstGeom>
          <a:noFill/>
          <a:ln/>
        </p:spPr>
        <p:txBody>
          <a:bodyPr wrap="square" lIns="0" tIns="0" rIns="0" bIns="0" rtlCol="0" anchor="ctr"/>
          <a:lstStyle/>
          <a:p>
            <a:pPr indent="0" marL="0">
              <a:lnSpc>
                <a:spcPct val="112000"/>
              </a:lnSpc>
              <a:buNone/>
            </a:pPr>
            <a:r>
              <a:rPr lang="en-US" sz="1250" dirty="0">
                <a:solidFill>
                  <a:schemeClr val="tx1"/>
                </a:solidFill>
              </a:rPr>
              <a:t>Three replicas must share one index, not hold three copies. Re-indexing the corpus must not require a worker deploy.</a:t>
            </a:r>
            <a:endParaRPr lang="en-US" sz="1250" dirty="0"/>
          </a:p>
        </p:txBody>
      </p:sp>
      <p:sp>
        <p:nvSpPr>
          <p:cNvPr id="13" name="bnd-2"/>
          <p:cNvSpPr/>
          <p:nvPr/>
        </p:nvSpPr>
        <p:spPr>
          <a:xfrm>
            <a:off x="566928" y="3529584"/>
            <a:ext cx="11027664" cy="1024128"/>
          </a:xfrm>
          <a:prstGeom prst="roundRect">
            <a:avLst>
              <a:gd name="adj" fmla="val 7143"/>
            </a:avLst>
          </a:prstGeom>
          <a:solidFill>
            <a:schemeClr val="bg2"/>
          </a:solidFill>
          <a:ln/>
        </p:spPr>
      </p:sp>
      <p:sp>
        <p:nvSpPr>
          <p:cNvPr id="14" name="bnd-2-key"/>
          <p:cNvSpPr/>
          <p:nvPr/>
        </p:nvSpPr>
        <p:spPr>
          <a:xfrm>
            <a:off x="566928" y="3529584"/>
            <a:ext cx="82296" cy="1024128"/>
          </a:xfrm>
          <a:prstGeom prst="roundRect">
            <a:avLst>
              <a:gd name="adj" fmla="val 44444"/>
            </a:avLst>
          </a:prstGeom>
          <a:solidFill>
            <a:srgbClr val="3F7D6E"/>
          </a:solidFill>
          <a:ln/>
        </p:spPr>
      </p:sp>
      <p:sp>
        <p:nvSpPr>
          <p:cNvPr id="15" name="bnd-2-name"/>
          <p:cNvSpPr txBox="1"/>
          <p:nvPr/>
        </p:nvSpPr>
        <p:spPr>
          <a:xfrm>
            <a:off x="859536" y="3657600"/>
            <a:ext cx="3017520" cy="365760"/>
          </a:xfrm>
          <a:prstGeom prst="rect">
            <a:avLst/>
          </a:prstGeom>
          <a:noFill/>
          <a:ln/>
        </p:spPr>
        <p:txBody>
          <a:bodyPr wrap="square" lIns="0" tIns="0" rIns="0" bIns="0" rtlCol="0" anchor="ctr"/>
          <a:lstStyle/>
          <a:p>
            <a:pPr indent="0" marL="0">
              <a:buNone/>
            </a:pPr>
            <a:r>
              <a:rPr lang="en-US" sz="1350" b="1" dirty="0">
                <a:solidFill>
                  <a:schemeClr val="tx2"/>
                </a:solidFill>
              </a:rPr>
              <a:t>llm-stub</a:t>
            </a:r>
            <a:endParaRPr lang="en-US" sz="1350" dirty="0"/>
          </a:p>
        </p:txBody>
      </p:sp>
      <p:sp>
        <p:nvSpPr>
          <p:cNvPr id="16" name="bnd-2-why"/>
          <p:cNvSpPr txBox="1"/>
          <p:nvPr/>
        </p:nvSpPr>
        <p:spPr>
          <a:xfrm>
            <a:off x="859536" y="4041648"/>
            <a:ext cx="3017520" cy="329184"/>
          </a:xfrm>
          <a:prstGeom prst="rect">
            <a:avLst/>
          </a:prstGeom>
          <a:noFill/>
          <a:ln/>
        </p:spPr>
        <p:txBody>
          <a:bodyPr wrap="square" lIns="0" tIns="0" rIns="0" bIns="0" rtlCol="0" anchor="ctr"/>
          <a:lstStyle/>
          <a:p>
            <a:pPr indent="0" marL="0">
              <a:buNone/>
            </a:pPr>
            <a:r>
              <a:rPr lang="en-US" sz="1100" b="1" dirty="0">
                <a:solidFill>
                  <a:srgbClr val="3F7D6E"/>
                </a:solidFill>
              </a:rPr>
              <a:t>It stands in for a third party</a:t>
            </a:r>
            <a:endParaRPr lang="en-US" sz="1100" dirty="0"/>
          </a:p>
        </p:txBody>
      </p:sp>
      <p:sp>
        <p:nvSpPr>
          <p:cNvPr id="17" name="bnd-2-body"/>
          <p:cNvSpPr txBox="1"/>
          <p:nvPr/>
        </p:nvSpPr>
        <p:spPr>
          <a:xfrm>
            <a:off x="4059936" y="3675888"/>
            <a:ext cx="7406640" cy="749808"/>
          </a:xfrm>
          <a:prstGeom prst="rect">
            <a:avLst/>
          </a:prstGeom>
          <a:noFill/>
          <a:ln/>
        </p:spPr>
        <p:txBody>
          <a:bodyPr wrap="square" lIns="0" tIns="0" rIns="0" bIns="0" rtlCol="0" anchor="ctr"/>
          <a:lstStyle/>
          <a:p>
            <a:pPr indent="0" marL="0">
              <a:lnSpc>
                <a:spcPct val="112000"/>
              </a:lnSpc>
              <a:buNone/>
            </a:pPr>
            <a:r>
              <a:rPr lang="en-US" sz="1250" dirty="0">
                <a:solidFill>
                  <a:schemeClr val="tx1"/>
                </a:solidFill>
              </a:rPr>
              <a:t>Reached through the same adapter as the real provider, so the load test measures the path we actually ship.</a:t>
            </a:r>
            <a:endParaRPr lang="en-US" sz="1250" dirty="0"/>
          </a:p>
        </p:txBody>
      </p:sp>
      <p:sp>
        <p:nvSpPr>
          <p:cNvPr id="18" name="bnd-3"/>
          <p:cNvSpPr/>
          <p:nvPr/>
        </p:nvSpPr>
        <p:spPr>
          <a:xfrm>
            <a:off x="566928" y="4681728"/>
            <a:ext cx="11027664" cy="1024128"/>
          </a:xfrm>
          <a:prstGeom prst="roundRect">
            <a:avLst>
              <a:gd name="adj" fmla="val 7143"/>
            </a:avLst>
          </a:prstGeom>
          <a:solidFill>
            <a:schemeClr val="bg2"/>
          </a:solidFill>
          <a:ln/>
        </p:spPr>
      </p:sp>
      <p:sp>
        <p:nvSpPr>
          <p:cNvPr id="19" name="bnd-3-key"/>
          <p:cNvSpPr/>
          <p:nvPr/>
        </p:nvSpPr>
        <p:spPr>
          <a:xfrm>
            <a:off x="566928" y="4681728"/>
            <a:ext cx="82296" cy="1024128"/>
          </a:xfrm>
          <a:prstGeom prst="roundRect">
            <a:avLst>
              <a:gd name="adj" fmla="val 44444"/>
            </a:avLst>
          </a:prstGeom>
          <a:solidFill>
            <a:srgbClr val="5A6378"/>
          </a:solidFill>
          <a:ln/>
        </p:spPr>
      </p:sp>
      <p:sp>
        <p:nvSpPr>
          <p:cNvPr id="20" name="bnd-3-name"/>
          <p:cNvSpPr txBox="1"/>
          <p:nvPr/>
        </p:nvSpPr>
        <p:spPr>
          <a:xfrm>
            <a:off x="859536" y="4809744"/>
            <a:ext cx="3017520" cy="365760"/>
          </a:xfrm>
          <a:prstGeom prst="rect">
            <a:avLst/>
          </a:prstGeom>
          <a:noFill/>
          <a:ln/>
        </p:spPr>
        <p:txBody>
          <a:bodyPr wrap="square" lIns="0" tIns="0" rIns="0" bIns="0" rtlCol="0" anchor="ctr"/>
          <a:lstStyle/>
          <a:p>
            <a:pPr indent="0" marL="0">
              <a:buNone/>
            </a:pPr>
            <a:r>
              <a:rPr lang="en-US" sz="1350" b="1" dirty="0">
                <a:solidFill>
                  <a:schemeClr val="tx2"/>
                </a:solidFill>
              </a:rPr>
              <a:t>observability stack</a:t>
            </a:r>
            <a:endParaRPr lang="en-US" sz="1350" dirty="0"/>
          </a:p>
        </p:txBody>
      </p:sp>
      <p:sp>
        <p:nvSpPr>
          <p:cNvPr id="21" name="bnd-3-why"/>
          <p:cNvSpPr txBox="1"/>
          <p:nvPr/>
        </p:nvSpPr>
        <p:spPr>
          <a:xfrm>
            <a:off x="859536" y="5193792"/>
            <a:ext cx="3017520" cy="329184"/>
          </a:xfrm>
          <a:prstGeom prst="rect">
            <a:avLst/>
          </a:prstGeom>
          <a:noFill/>
          <a:ln/>
        </p:spPr>
        <p:txBody>
          <a:bodyPr wrap="square" lIns="0" tIns="0" rIns="0" bIns="0" rtlCol="0" anchor="ctr"/>
          <a:lstStyle/>
          <a:p>
            <a:pPr indent="0" marL="0">
              <a:buNone/>
            </a:pPr>
            <a:r>
              <a:rPr lang="en-US" sz="1100" b="1" dirty="0">
                <a:solidFill>
                  <a:srgbClr val="5A6378"/>
                </a:solidFill>
              </a:rPr>
              <a:t>It outlives its subject</a:t>
            </a:r>
            <a:endParaRPr lang="en-US" sz="1100" dirty="0"/>
          </a:p>
        </p:txBody>
      </p:sp>
      <p:sp>
        <p:nvSpPr>
          <p:cNvPr id="22" name="bnd-3-body"/>
          <p:cNvSpPr txBox="1"/>
          <p:nvPr/>
        </p:nvSpPr>
        <p:spPr>
          <a:xfrm>
            <a:off x="4059936" y="4828032"/>
            <a:ext cx="7406640" cy="749808"/>
          </a:xfrm>
          <a:prstGeom prst="rect">
            <a:avLst/>
          </a:prstGeom>
          <a:noFill/>
          <a:ln/>
        </p:spPr>
        <p:txBody>
          <a:bodyPr wrap="square" lIns="0" tIns="0" rIns="0" bIns="0" rtlCol="0" anchor="ctr"/>
          <a:lstStyle/>
          <a:p>
            <a:pPr indent="0" marL="0">
              <a:lnSpc>
                <a:spcPct val="112000"/>
              </a:lnSpc>
              <a:buNone/>
            </a:pPr>
            <a:r>
              <a:rPr lang="en-US" sz="1250" dirty="0">
                <a:solidFill>
                  <a:schemeClr val="tx1"/>
                </a:solidFill>
              </a:rPr>
              <a:t>prometheus · grafana · jaeger · cadvisor. If the worker is crash-looping, the dashboard that shows it crash-looping has to still be up.</a:t>
            </a:r>
            <a:endParaRPr lang="en-US" sz="1250" dirty="0"/>
          </a:p>
        </p:txBody>
      </p:sp>
      <p:sp>
        <p:nvSpPr>
          <p:cNvPr id="23" name="rejected-note"/>
          <p:cNvSpPr txBox="1"/>
          <p:nvPr/>
        </p:nvSpPr>
        <p:spPr>
          <a:xfrm>
            <a:off x="566928" y="5852160"/>
            <a:ext cx="11027664" cy="402336"/>
          </a:xfrm>
          <a:prstGeom prst="rect">
            <a:avLst/>
          </a:prstGeom>
          <a:noFill/>
          <a:ln/>
        </p:spPr>
        <p:txBody>
          <a:bodyPr wrap="square" lIns="0" tIns="0" rIns="0" bIns="0" rtlCol="0" anchor="ctr"/>
          <a:lstStyle/>
          <a:p>
            <a:pPr indent="0" marL="0">
              <a:lnSpc>
                <a:spcPct val="110000"/>
              </a:lnSpc>
              <a:buNone/>
            </a:pPr>
            <a:r>
              <a:rPr lang="en-US" sz="1100" i="1" dirty="0">
                <a:solidFill>
                  <a:srgbClr val="5A6378"/>
                </a:solidFill>
              </a:rPr>
              <a:t>Rejected: a separate retrieval service (an HTTP hop per call costs more than the separation recovers) · a separate validation service (a network hop before validation opens the very window the rule closes) · four services for the four agents.</a:t>
            </a:r>
            <a:endParaRPr lang="en-US" sz="1100" dirty="0"/>
          </a:p>
        </p:txBody>
      </p:sp>
      <p:sp>
        <p:nvSpPr>
          <p:cNvPr id="25"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Nothing reaches an agent unvalidated</a:t>
            </a:r>
            <a:endParaRPr lang="en-US" sz="3200" dirty="0"/>
          </a:p>
        </p:txBody>
      </p:sp>
      <p:sp>
        <p:nvSpPr>
          <p:cNvPr id="3" name="gate-0"/>
          <p:cNvSpPr/>
          <p:nvPr/>
        </p:nvSpPr>
        <p:spPr>
          <a:xfrm>
            <a:off x="566928" y="1243584"/>
            <a:ext cx="1700784" cy="1792224"/>
          </a:xfrm>
          <a:prstGeom prst="roundRect">
            <a:avLst>
              <a:gd name="adj" fmla="val 4301"/>
            </a:avLst>
          </a:prstGeom>
          <a:solidFill>
            <a:schemeClr val="bg2"/>
          </a:solidFill>
          <a:ln/>
        </p:spPr>
      </p:sp>
      <p:sp>
        <p:nvSpPr>
          <p:cNvPr id="4" name="gate-0-code"/>
          <p:cNvSpPr txBox="1"/>
          <p:nvPr/>
        </p:nvSpPr>
        <p:spPr>
          <a:xfrm>
            <a:off x="694944" y="1389888"/>
            <a:ext cx="1444752" cy="384048"/>
          </a:xfrm>
          <a:prstGeom prst="rect">
            <a:avLst/>
          </a:prstGeom>
          <a:noFill/>
          <a:ln/>
        </p:spPr>
        <p:txBody>
          <a:bodyPr wrap="square" lIns="0" tIns="0" rIns="0" bIns="0" rtlCol="0" anchor="ctr"/>
          <a:lstStyle/>
          <a:p>
            <a:pPr indent="0" marL="0">
              <a:buNone/>
            </a:pPr>
            <a:r>
              <a:rPr lang="en-US" sz="1900" b="1" dirty="0">
                <a:solidFill>
                  <a:srgbClr val="5A6378"/>
                </a:solidFill>
              </a:rPr>
              <a:t>429</a:t>
            </a:r>
            <a:endParaRPr lang="en-US" sz="1900" dirty="0"/>
          </a:p>
        </p:txBody>
      </p:sp>
      <p:sp>
        <p:nvSpPr>
          <p:cNvPr id="5" name="gate-0-name"/>
          <p:cNvSpPr txBox="1"/>
          <p:nvPr/>
        </p:nvSpPr>
        <p:spPr>
          <a:xfrm>
            <a:off x="694944" y="1810512"/>
            <a:ext cx="1444752" cy="512064"/>
          </a:xfrm>
          <a:prstGeom prst="rect">
            <a:avLst/>
          </a:prstGeom>
          <a:noFill/>
          <a:ln/>
        </p:spPr>
        <p:txBody>
          <a:bodyPr wrap="square" lIns="0" tIns="0" rIns="0" bIns="0" rtlCol="0" anchor="ctr"/>
          <a:lstStyle/>
          <a:p>
            <a:pPr indent="0" marL="0">
              <a:lnSpc>
                <a:spcPct val="106000"/>
              </a:lnSpc>
              <a:buNone/>
            </a:pPr>
            <a:r>
              <a:rPr lang="en-US" sz="1250" b="1" dirty="0">
                <a:solidFill>
                  <a:schemeClr val="tx2"/>
                </a:solidFill>
              </a:rPr>
              <a:t>Rate limit</a:t>
            </a:r>
            <a:endParaRPr lang="en-US" sz="1250" dirty="0"/>
          </a:p>
        </p:txBody>
      </p:sp>
      <p:sp>
        <p:nvSpPr>
          <p:cNvPr id="6" name="gate-0-sub"/>
          <p:cNvSpPr txBox="1"/>
          <p:nvPr/>
        </p:nvSpPr>
        <p:spPr>
          <a:xfrm>
            <a:off x="694944" y="2322576"/>
            <a:ext cx="1444752" cy="603504"/>
          </a:xfrm>
          <a:prstGeom prst="rect">
            <a:avLst/>
          </a:prstGeom>
          <a:noFill/>
          <a:ln/>
        </p:spPr>
        <p:txBody>
          <a:bodyPr wrap="square" lIns="0" tIns="0" rIns="0" bIns="0" rtlCol="0" anchor="ctr"/>
          <a:lstStyle/>
          <a:p>
            <a:pPr indent="0" marL="0">
              <a:lnSpc>
                <a:spcPct val="108000"/>
              </a:lnSpc>
              <a:buNone/>
            </a:pPr>
            <a:r>
              <a:rPr lang="en-US" sz="1050" dirty="0">
                <a:solidFill>
                  <a:srgbClr val="5A6378"/>
                </a:solidFill>
              </a:rPr>
              <a:t>per client</a:t>
            </a:r>
            <a:endParaRPr lang="en-US" sz="1050" dirty="0"/>
          </a:p>
        </p:txBody>
      </p:sp>
      <p:sp>
        <p:nvSpPr>
          <p:cNvPr id="7" name="gate-1"/>
          <p:cNvSpPr/>
          <p:nvPr/>
        </p:nvSpPr>
        <p:spPr>
          <a:xfrm>
            <a:off x="2414016" y="1243584"/>
            <a:ext cx="1700784" cy="1792224"/>
          </a:xfrm>
          <a:prstGeom prst="roundRect">
            <a:avLst>
              <a:gd name="adj" fmla="val 4301"/>
            </a:avLst>
          </a:prstGeom>
          <a:solidFill>
            <a:schemeClr val="bg2"/>
          </a:solidFill>
          <a:ln/>
        </p:spPr>
      </p:sp>
      <p:sp>
        <p:nvSpPr>
          <p:cNvPr id="8" name="gate-1-code"/>
          <p:cNvSpPr txBox="1"/>
          <p:nvPr/>
        </p:nvSpPr>
        <p:spPr>
          <a:xfrm>
            <a:off x="2542032" y="1389888"/>
            <a:ext cx="1444752" cy="384048"/>
          </a:xfrm>
          <a:prstGeom prst="rect">
            <a:avLst/>
          </a:prstGeom>
          <a:noFill/>
          <a:ln/>
        </p:spPr>
        <p:txBody>
          <a:bodyPr wrap="square" lIns="0" tIns="0" rIns="0" bIns="0" rtlCol="0" anchor="ctr"/>
          <a:lstStyle/>
          <a:p>
            <a:pPr indent="0" marL="0">
              <a:buNone/>
            </a:pPr>
            <a:r>
              <a:rPr lang="en-US" sz="1900" b="1" dirty="0">
                <a:solidFill>
                  <a:srgbClr val="E0A458"/>
                </a:solidFill>
              </a:rPr>
              <a:t>422</a:t>
            </a:r>
            <a:endParaRPr lang="en-US" sz="1900" dirty="0"/>
          </a:p>
        </p:txBody>
      </p:sp>
      <p:sp>
        <p:nvSpPr>
          <p:cNvPr id="9" name="gate-1-name"/>
          <p:cNvSpPr txBox="1"/>
          <p:nvPr/>
        </p:nvSpPr>
        <p:spPr>
          <a:xfrm>
            <a:off x="2542032" y="1810512"/>
            <a:ext cx="1444752" cy="512064"/>
          </a:xfrm>
          <a:prstGeom prst="rect">
            <a:avLst/>
          </a:prstGeom>
          <a:noFill/>
          <a:ln/>
        </p:spPr>
        <p:txBody>
          <a:bodyPr wrap="square" lIns="0" tIns="0" rIns="0" bIns="0" rtlCol="0" anchor="ctr"/>
          <a:lstStyle/>
          <a:p>
            <a:pPr indent="0" marL="0">
              <a:lnSpc>
                <a:spcPct val="106000"/>
              </a:lnSpc>
              <a:buNone/>
            </a:pPr>
            <a:r>
              <a:rPr lang="en-US" sz="1250" b="1" dirty="0">
                <a:solidFill>
                  <a:schemeClr val="tx2"/>
                </a:solidFill>
              </a:rPr>
              <a:t>Schema + type</a:t>
            </a:r>
            <a:endParaRPr lang="en-US" sz="1250" dirty="0"/>
          </a:p>
        </p:txBody>
      </p:sp>
      <p:sp>
        <p:nvSpPr>
          <p:cNvPr id="10" name="gate-1-sub"/>
          <p:cNvSpPr txBox="1"/>
          <p:nvPr/>
        </p:nvSpPr>
        <p:spPr>
          <a:xfrm>
            <a:off x="2542032" y="2322576"/>
            <a:ext cx="1444752" cy="603504"/>
          </a:xfrm>
          <a:prstGeom prst="rect">
            <a:avLst/>
          </a:prstGeom>
          <a:noFill/>
          <a:ln/>
        </p:spPr>
        <p:txBody>
          <a:bodyPr wrap="square" lIns="0" tIns="0" rIns="0" bIns="0" rtlCol="0" anchor="ctr"/>
          <a:lstStyle/>
          <a:p>
            <a:pPr indent="0" marL="0">
              <a:lnSpc>
                <a:spcPct val="108000"/>
              </a:lnSpc>
              <a:buNone/>
            </a:pPr>
            <a:r>
              <a:rPr lang="en-US" sz="1050" dirty="0">
                <a:solidFill>
                  <a:srgbClr val="5A6378"/>
                </a:solidFill>
              </a:rPr>
              <a:t>pydantic, contract fnol.v1</a:t>
            </a:r>
            <a:endParaRPr lang="en-US" sz="1050" dirty="0"/>
          </a:p>
        </p:txBody>
      </p:sp>
      <p:sp>
        <p:nvSpPr>
          <p:cNvPr id="11" name="gate-2"/>
          <p:cNvSpPr/>
          <p:nvPr/>
        </p:nvSpPr>
        <p:spPr>
          <a:xfrm>
            <a:off x="4261104" y="1243584"/>
            <a:ext cx="1700784" cy="1792224"/>
          </a:xfrm>
          <a:prstGeom prst="roundRect">
            <a:avLst>
              <a:gd name="adj" fmla="val 4301"/>
            </a:avLst>
          </a:prstGeom>
          <a:solidFill>
            <a:schemeClr val="bg2"/>
          </a:solidFill>
          <a:ln/>
        </p:spPr>
      </p:sp>
      <p:sp>
        <p:nvSpPr>
          <p:cNvPr id="12" name="gate-2-code"/>
          <p:cNvSpPr txBox="1"/>
          <p:nvPr/>
        </p:nvSpPr>
        <p:spPr>
          <a:xfrm>
            <a:off x="4389120" y="1389888"/>
            <a:ext cx="1444752" cy="384048"/>
          </a:xfrm>
          <a:prstGeom prst="rect">
            <a:avLst/>
          </a:prstGeom>
          <a:noFill/>
          <a:ln/>
        </p:spPr>
        <p:txBody>
          <a:bodyPr wrap="square" lIns="0" tIns="0" rIns="0" bIns="0" rtlCol="0" anchor="ctr"/>
          <a:lstStyle/>
          <a:p>
            <a:pPr indent="0" marL="0">
              <a:buNone/>
            </a:pPr>
            <a:r>
              <a:rPr lang="en-US" sz="1900" b="1" dirty="0">
                <a:solidFill>
                  <a:srgbClr val="E0A458"/>
                </a:solidFill>
              </a:rPr>
              <a:t>422</a:t>
            </a:r>
            <a:endParaRPr lang="en-US" sz="1900" dirty="0"/>
          </a:p>
        </p:txBody>
      </p:sp>
      <p:sp>
        <p:nvSpPr>
          <p:cNvPr id="13" name="gate-2-name"/>
          <p:cNvSpPr txBox="1"/>
          <p:nvPr/>
        </p:nvSpPr>
        <p:spPr>
          <a:xfrm>
            <a:off x="4389120" y="1810512"/>
            <a:ext cx="1444752" cy="512064"/>
          </a:xfrm>
          <a:prstGeom prst="rect">
            <a:avLst/>
          </a:prstGeom>
          <a:noFill/>
          <a:ln/>
        </p:spPr>
        <p:txBody>
          <a:bodyPr wrap="square" lIns="0" tIns="0" rIns="0" bIns="0" rtlCol="0" anchor="ctr"/>
          <a:lstStyle/>
          <a:p>
            <a:pPr indent="0" marL="0">
              <a:lnSpc>
                <a:spcPct val="106000"/>
              </a:lnSpc>
              <a:buNone/>
            </a:pPr>
            <a:r>
              <a:rPr lang="en-US" sz="1250" b="1" dirty="0">
                <a:solidFill>
                  <a:schemeClr val="tx2"/>
                </a:solidFill>
              </a:rPr>
              <a:t>Range + category</a:t>
            </a:r>
            <a:endParaRPr lang="en-US" sz="1250" dirty="0"/>
          </a:p>
        </p:txBody>
      </p:sp>
      <p:sp>
        <p:nvSpPr>
          <p:cNvPr id="14" name="gate-2-sub"/>
          <p:cNvSpPr txBox="1"/>
          <p:nvPr/>
        </p:nvSpPr>
        <p:spPr>
          <a:xfrm>
            <a:off x="4389120" y="2322576"/>
            <a:ext cx="1444752" cy="603504"/>
          </a:xfrm>
          <a:prstGeom prst="rect">
            <a:avLst/>
          </a:prstGeom>
          <a:noFill/>
          <a:ln/>
        </p:spPr>
        <p:txBody>
          <a:bodyPr wrap="square" lIns="0" tIns="0" rIns="0" bIns="0" rtlCol="0" anchor="ctr"/>
          <a:lstStyle/>
          <a:p>
            <a:pPr indent="0" marL="0">
              <a:lnSpc>
                <a:spcPct val="108000"/>
              </a:lnSpc>
              <a:buNone/>
            </a:pPr>
            <a:r>
              <a:rPr lang="en-US" sz="1050" dirty="0">
                <a:solidFill>
                  <a:srgbClr val="5A6378"/>
                </a:solidFill>
              </a:rPr>
              <a:t>enums, bounds, 38 state codes</a:t>
            </a:r>
            <a:endParaRPr lang="en-US" sz="1050" dirty="0"/>
          </a:p>
        </p:txBody>
      </p:sp>
      <p:sp>
        <p:nvSpPr>
          <p:cNvPr id="15" name="gate-3"/>
          <p:cNvSpPr/>
          <p:nvPr/>
        </p:nvSpPr>
        <p:spPr>
          <a:xfrm>
            <a:off x="6108192" y="1243584"/>
            <a:ext cx="1700784" cy="1792224"/>
          </a:xfrm>
          <a:prstGeom prst="roundRect">
            <a:avLst>
              <a:gd name="adj" fmla="val 4301"/>
            </a:avLst>
          </a:prstGeom>
          <a:solidFill>
            <a:schemeClr val="bg2"/>
          </a:solidFill>
          <a:ln/>
        </p:spPr>
      </p:sp>
      <p:sp>
        <p:nvSpPr>
          <p:cNvPr id="16" name="gate-3-code"/>
          <p:cNvSpPr txBox="1"/>
          <p:nvPr/>
        </p:nvSpPr>
        <p:spPr>
          <a:xfrm>
            <a:off x="6236208" y="1389888"/>
            <a:ext cx="1444752" cy="384048"/>
          </a:xfrm>
          <a:prstGeom prst="rect">
            <a:avLst/>
          </a:prstGeom>
          <a:noFill/>
          <a:ln/>
        </p:spPr>
        <p:txBody>
          <a:bodyPr wrap="square" lIns="0" tIns="0" rIns="0" bIns="0" rtlCol="0" anchor="ctr"/>
          <a:lstStyle/>
          <a:p>
            <a:pPr indent="0" marL="0">
              <a:buNone/>
            </a:pPr>
            <a:r>
              <a:rPr lang="en-US" sz="1900" b="1" dirty="0">
                <a:solidFill>
                  <a:srgbClr val="B85042"/>
                </a:solidFill>
              </a:rPr>
              <a:t>422</a:t>
            </a:r>
            <a:endParaRPr lang="en-US" sz="1900" dirty="0"/>
          </a:p>
        </p:txBody>
      </p:sp>
      <p:sp>
        <p:nvSpPr>
          <p:cNvPr id="17" name="gate-3-name"/>
          <p:cNvSpPr txBox="1"/>
          <p:nvPr/>
        </p:nvSpPr>
        <p:spPr>
          <a:xfrm>
            <a:off x="6236208" y="1810512"/>
            <a:ext cx="1444752" cy="512064"/>
          </a:xfrm>
          <a:prstGeom prst="rect">
            <a:avLst/>
          </a:prstGeom>
          <a:noFill/>
          <a:ln/>
        </p:spPr>
        <p:txBody>
          <a:bodyPr wrap="square" lIns="0" tIns="0" rIns="0" bIns="0" rtlCol="0" anchor="ctr"/>
          <a:lstStyle/>
          <a:p>
            <a:pPr indent="0" marL="0">
              <a:lnSpc>
                <a:spcPct val="106000"/>
              </a:lnSpc>
              <a:buNone/>
            </a:pPr>
            <a:r>
              <a:rPr lang="en-US" sz="1250" b="1" dirty="0">
                <a:solidFill>
                  <a:schemeClr val="tx2"/>
                </a:solidFill>
              </a:rPr>
              <a:t>Cross-field</a:t>
            </a:r>
            <a:endParaRPr lang="en-US" sz="1250" dirty="0"/>
          </a:p>
        </p:txBody>
      </p:sp>
      <p:sp>
        <p:nvSpPr>
          <p:cNvPr id="18" name="gate-3-sub"/>
          <p:cNvSpPr txBox="1"/>
          <p:nvPr/>
        </p:nvSpPr>
        <p:spPr>
          <a:xfrm>
            <a:off x="6236208" y="2322576"/>
            <a:ext cx="1444752" cy="603504"/>
          </a:xfrm>
          <a:prstGeom prst="rect">
            <a:avLst/>
          </a:prstGeom>
          <a:noFill/>
          <a:ln/>
        </p:spPr>
        <p:txBody>
          <a:bodyPr wrap="square" lIns="0" tIns="0" rIns="0" bIns="0" rtlCol="0" anchor="ctr"/>
          <a:lstStyle/>
          <a:p>
            <a:pPr indent="0" marL="0">
              <a:lnSpc>
                <a:spcPct val="108000"/>
              </a:lnSpc>
              <a:buNone/>
            </a:pPr>
            <a:r>
              <a:rPr lang="en-US" sz="1050" dirty="0">
                <a:solidFill>
                  <a:srgbClr val="5A6378"/>
                </a:solidFill>
              </a:rPr>
              <a:t>14 named rules</a:t>
            </a:r>
            <a:endParaRPr lang="en-US" sz="1050" dirty="0"/>
          </a:p>
        </p:txBody>
      </p:sp>
      <p:sp>
        <p:nvSpPr>
          <p:cNvPr id="19" name="gate-4"/>
          <p:cNvSpPr/>
          <p:nvPr/>
        </p:nvSpPr>
        <p:spPr>
          <a:xfrm>
            <a:off x="7955280" y="1243584"/>
            <a:ext cx="1700784" cy="1792224"/>
          </a:xfrm>
          <a:prstGeom prst="roundRect">
            <a:avLst>
              <a:gd name="adj" fmla="val 4301"/>
            </a:avLst>
          </a:prstGeom>
          <a:solidFill>
            <a:schemeClr val="bg2"/>
          </a:solidFill>
          <a:ln/>
        </p:spPr>
      </p:sp>
      <p:sp>
        <p:nvSpPr>
          <p:cNvPr id="20" name="gate-4-code"/>
          <p:cNvSpPr txBox="1"/>
          <p:nvPr/>
        </p:nvSpPr>
        <p:spPr>
          <a:xfrm>
            <a:off x="8083296" y="1389888"/>
            <a:ext cx="1444752" cy="384048"/>
          </a:xfrm>
          <a:prstGeom prst="rect">
            <a:avLst/>
          </a:prstGeom>
          <a:noFill/>
          <a:ln/>
        </p:spPr>
        <p:txBody>
          <a:bodyPr wrap="square" lIns="0" tIns="0" rIns="0" bIns="0" rtlCol="0" anchor="ctr"/>
          <a:lstStyle/>
          <a:p>
            <a:pPr indent="0" marL="0">
              <a:buNone/>
            </a:pPr>
            <a:r>
              <a:rPr lang="en-US" sz="1900" b="1" dirty="0">
                <a:solidFill>
                  <a:srgbClr val="B85042"/>
                </a:solidFill>
              </a:rPr>
              <a:t>422</a:t>
            </a:r>
            <a:endParaRPr lang="en-US" sz="1900" dirty="0"/>
          </a:p>
        </p:txBody>
      </p:sp>
      <p:sp>
        <p:nvSpPr>
          <p:cNvPr id="21" name="gate-4-name"/>
          <p:cNvSpPr txBox="1"/>
          <p:nvPr/>
        </p:nvSpPr>
        <p:spPr>
          <a:xfrm>
            <a:off x="8083296" y="1810512"/>
            <a:ext cx="1444752" cy="512064"/>
          </a:xfrm>
          <a:prstGeom prst="rect">
            <a:avLst/>
          </a:prstGeom>
          <a:noFill/>
          <a:ln/>
        </p:spPr>
        <p:txBody>
          <a:bodyPr wrap="square" lIns="0" tIns="0" rIns="0" bIns="0" rtlCol="0" anchor="ctr"/>
          <a:lstStyle/>
          <a:p>
            <a:pPr indent="0" marL="0">
              <a:lnSpc>
                <a:spcPct val="106000"/>
              </a:lnSpc>
              <a:buNone/>
            </a:pPr>
            <a:r>
              <a:rPr lang="en-US" sz="1250" b="1" dirty="0">
                <a:solidFill>
                  <a:schemeClr val="tx2"/>
                </a:solidFill>
              </a:rPr>
              <a:t>Guardrails</a:t>
            </a:r>
            <a:endParaRPr lang="en-US" sz="1250" dirty="0"/>
          </a:p>
        </p:txBody>
      </p:sp>
      <p:sp>
        <p:nvSpPr>
          <p:cNvPr id="22" name="gate-4-sub"/>
          <p:cNvSpPr txBox="1"/>
          <p:nvPr/>
        </p:nvSpPr>
        <p:spPr>
          <a:xfrm>
            <a:off x="8083296" y="2322576"/>
            <a:ext cx="1444752" cy="603504"/>
          </a:xfrm>
          <a:prstGeom prst="rect">
            <a:avLst/>
          </a:prstGeom>
          <a:noFill/>
          <a:ln/>
        </p:spPr>
        <p:txBody>
          <a:bodyPr wrap="square" lIns="0" tIns="0" rIns="0" bIns="0" rtlCol="0" anchor="ctr"/>
          <a:lstStyle/>
          <a:p>
            <a:pPr indent="0" marL="0">
              <a:lnSpc>
                <a:spcPct val="108000"/>
              </a:lnSpc>
              <a:buNone/>
            </a:pPr>
            <a:r>
              <a:rPr lang="en-US" sz="1050" dirty="0">
                <a:solidFill>
                  <a:srgbClr val="5A6378"/>
                </a:solidFill>
              </a:rPr>
              <a:t>injection + toxicity on free text</a:t>
            </a:r>
            <a:endParaRPr lang="en-US" sz="1050" dirty="0"/>
          </a:p>
        </p:txBody>
      </p:sp>
      <p:sp>
        <p:nvSpPr>
          <p:cNvPr id="23" name="gate-5"/>
          <p:cNvSpPr/>
          <p:nvPr/>
        </p:nvSpPr>
        <p:spPr>
          <a:xfrm>
            <a:off x="9802368" y="1243584"/>
            <a:ext cx="1700784" cy="1792224"/>
          </a:xfrm>
          <a:prstGeom prst="roundRect">
            <a:avLst>
              <a:gd name="adj" fmla="val 4301"/>
            </a:avLst>
          </a:prstGeom>
          <a:solidFill>
            <a:schemeClr val="bg2"/>
          </a:solidFill>
          <a:ln/>
        </p:spPr>
      </p:sp>
      <p:sp>
        <p:nvSpPr>
          <p:cNvPr id="24" name="gate-5-code"/>
          <p:cNvSpPr txBox="1"/>
          <p:nvPr/>
        </p:nvSpPr>
        <p:spPr>
          <a:xfrm>
            <a:off x="9930384" y="1389888"/>
            <a:ext cx="1444752" cy="384048"/>
          </a:xfrm>
          <a:prstGeom prst="rect">
            <a:avLst/>
          </a:prstGeom>
          <a:noFill/>
          <a:ln/>
        </p:spPr>
        <p:txBody>
          <a:bodyPr wrap="square" lIns="0" tIns="0" rIns="0" bIns="0" rtlCol="0" anchor="ctr"/>
          <a:lstStyle/>
          <a:p>
            <a:pPr indent="0" marL="0">
              <a:buNone/>
            </a:pPr>
            <a:r>
              <a:rPr lang="en-US" sz="1900" b="1" dirty="0">
                <a:solidFill>
                  <a:srgbClr val="3F7D6E"/>
                </a:solidFill>
              </a:rPr>
              <a:t>202</a:t>
            </a:r>
            <a:endParaRPr lang="en-US" sz="1900" dirty="0"/>
          </a:p>
        </p:txBody>
      </p:sp>
      <p:sp>
        <p:nvSpPr>
          <p:cNvPr id="25" name="gate-5-name"/>
          <p:cNvSpPr txBox="1"/>
          <p:nvPr/>
        </p:nvSpPr>
        <p:spPr>
          <a:xfrm>
            <a:off x="9930384" y="1810512"/>
            <a:ext cx="1444752" cy="512064"/>
          </a:xfrm>
          <a:prstGeom prst="rect">
            <a:avLst/>
          </a:prstGeom>
          <a:noFill/>
          <a:ln/>
        </p:spPr>
        <p:txBody>
          <a:bodyPr wrap="square" lIns="0" tIns="0" rIns="0" bIns="0" rtlCol="0" anchor="ctr"/>
          <a:lstStyle/>
          <a:p>
            <a:pPr indent="0" marL="0">
              <a:lnSpc>
                <a:spcPct val="106000"/>
              </a:lnSpc>
              <a:buNone/>
            </a:pPr>
            <a:r>
              <a:rPr lang="en-US" sz="1250" b="1" dirty="0">
                <a:solidFill>
                  <a:schemeClr val="tx2"/>
                </a:solidFill>
              </a:rPr>
              <a:t>Enqueue</a:t>
            </a:r>
            <a:endParaRPr lang="en-US" sz="1250" dirty="0"/>
          </a:p>
        </p:txBody>
      </p:sp>
      <p:sp>
        <p:nvSpPr>
          <p:cNvPr id="26" name="gate-5-sub"/>
          <p:cNvSpPr txBox="1"/>
          <p:nvPr/>
        </p:nvSpPr>
        <p:spPr>
          <a:xfrm>
            <a:off x="9930384" y="2322576"/>
            <a:ext cx="1444752" cy="603504"/>
          </a:xfrm>
          <a:prstGeom prst="rect">
            <a:avLst/>
          </a:prstGeom>
          <a:noFill/>
          <a:ln/>
        </p:spPr>
        <p:txBody>
          <a:bodyPr wrap="square" lIns="0" tIns="0" rIns="0" bIns="0" rtlCol="0" anchor="ctr"/>
          <a:lstStyle/>
          <a:p>
            <a:pPr indent="0" marL="0">
              <a:lnSpc>
                <a:spcPct val="108000"/>
              </a:lnSpc>
              <a:buNone/>
            </a:pPr>
            <a:r>
              <a:rPr lang="en-US" sz="1050" dirty="0">
                <a:solidFill>
                  <a:srgbClr val="5A6378"/>
                </a:solidFill>
              </a:rPr>
              <a:t>run id issued here, and only here</a:t>
            </a:r>
            <a:endParaRPr lang="en-US" sz="1050" dirty="0"/>
          </a:p>
        </p:txBody>
      </p:sp>
      <p:sp>
        <p:nvSpPr>
          <p:cNvPr id="27" name="nostart"/>
          <p:cNvSpPr/>
          <p:nvPr/>
        </p:nvSpPr>
        <p:spPr>
          <a:xfrm>
            <a:off x="566928" y="3200400"/>
            <a:ext cx="5358384" cy="1536192"/>
          </a:xfrm>
          <a:prstGeom prst="roundRect">
            <a:avLst>
              <a:gd name="adj" fmla="val 4762"/>
            </a:avLst>
          </a:prstGeom>
          <a:solidFill>
            <a:srgbClr val="EBF1EF"/>
          </a:solidFill>
          <a:ln/>
        </p:spPr>
      </p:sp>
      <p:sp>
        <p:nvSpPr>
          <p:cNvPr id="28" name="nostart-head"/>
          <p:cNvSpPr txBox="1"/>
          <p:nvPr/>
        </p:nvSpPr>
        <p:spPr>
          <a:xfrm>
            <a:off x="841248" y="3364992"/>
            <a:ext cx="4809744" cy="310896"/>
          </a:xfrm>
          <a:prstGeom prst="rect">
            <a:avLst/>
          </a:prstGeom>
          <a:noFill/>
          <a:ln/>
        </p:spPr>
        <p:txBody>
          <a:bodyPr wrap="square" lIns="0" tIns="0" rIns="0" bIns="0" rtlCol="0" anchor="ctr"/>
          <a:lstStyle/>
          <a:p>
            <a:pPr indent="0" marL="0">
              <a:buNone/>
            </a:pPr>
            <a:r>
              <a:rPr lang="en-US" sz="1500" b="1" dirty="0">
                <a:solidFill>
                  <a:schemeClr val="accent3"/>
                </a:solidFill>
              </a:rPr>
              <a:t>A rejection cannot start a run</a:t>
            </a:r>
            <a:endParaRPr lang="en-US" sz="1500" dirty="0"/>
          </a:p>
        </p:txBody>
      </p:sp>
      <p:sp>
        <p:nvSpPr>
          <p:cNvPr id="29" name="nostart-body"/>
          <p:cNvSpPr txBox="1"/>
          <p:nvPr/>
        </p:nvSpPr>
        <p:spPr>
          <a:xfrm>
            <a:off x="841248" y="3694176"/>
            <a:ext cx="4809744" cy="932688"/>
          </a:xfrm>
          <a:prstGeom prst="rect">
            <a:avLst/>
          </a:prstGeom>
          <a:noFill/>
          <a:ln/>
        </p:spPr>
        <p:txBody>
          <a:bodyPr wrap="square" lIns="0" tIns="0" rIns="0" bIns="0" rtlCol="0" anchor="ctr"/>
          <a:lstStyle/>
          <a:p>
            <a:pPr indent="0" marL="0">
              <a:lnSpc>
                <a:spcPct val="112000"/>
              </a:lnSpc>
              <a:buNone/>
            </a:pPr>
            <a:r>
              <a:rPr lang="en-US" sz="1250" dirty="0">
                <a:solidFill>
                  <a:schemeClr val="tx1"/>
                </a:solidFill>
              </a:rPr>
              <a:t>The quarantine record's agent_run_started field is typed Literal[False]. It is not a field that happens to be false — it is one that cannot be true, because no code path leads from the rejection branch to a run.</a:t>
            </a:r>
            <a:endParaRPr lang="en-US" sz="1250" dirty="0"/>
          </a:p>
        </p:txBody>
      </p:sp>
      <p:sp>
        <p:nvSpPr>
          <p:cNvPr id="30" name="surfaces"/>
          <p:cNvSpPr/>
          <p:nvPr/>
        </p:nvSpPr>
        <p:spPr>
          <a:xfrm>
            <a:off x="6236208" y="3200400"/>
            <a:ext cx="5358384" cy="1536192"/>
          </a:xfrm>
          <a:prstGeom prst="roundRect">
            <a:avLst>
              <a:gd name="adj" fmla="val 4762"/>
            </a:avLst>
          </a:prstGeom>
          <a:solidFill>
            <a:srgbClr val="F7EDEB"/>
          </a:solidFill>
          <a:ln/>
        </p:spPr>
      </p:sp>
      <p:sp>
        <p:nvSpPr>
          <p:cNvPr id="31" name="surfaces-head"/>
          <p:cNvSpPr txBox="1"/>
          <p:nvPr/>
        </p:nvSpPr>
        <p:spPr>
          <a:xfrm>
            <a:off x="6510528" y="3364992"/>
            <a:ext cx="4809744" cy="310896"/>
          </a:xfrm>
          <a:prstGeom prst="rect">
            <a:avLst/>
          </a:prstGeom>
          <a:noFill/>
          <a:ln/>
        </p:spPr>
        <p:txBody>
          <a:bodyPr wrap="square" lIns="0" tIns="0" rIns="0" bIns="0" rtlCol="0" anchor="ctr"/>
          <a:lstStyle/>
          <a:p>
            <a:pPr indent="0" marL="0">
              <a:buNone/>
            </a:pPr>
            <a:r>
              <a:rPr lang="en-US" sz="1500" b="1" dirty="0">
                <a:solidFill>
                  <a:schemeClr val="accent6"/>
                </a:solidFill>
              </a:rPr>
              <a:t>Three guardrail surfaces, not one</a:t>
            </a:r>
            <a:endParaRPr lang="en-US" sz="1500" dirty="0"/>
          </a:p>
        </p:txBody>
      </p:sp>
      <p:sp>
        <p:nvSpPr>
          <p:cNvPr id="32" name="surfaces-body"/>
          <p:cNvSpPr txBox="1"/>
          <p:nvPr/>
        </p:nvSpPr>
        <p:spPr>
          <a:xfrm>
            <a:off x="6510528" y="3694176"/>
            <a:ext cx="4809744" cy="932688"/>
          </a:xfrm>
          <a:prstGeom prst="rect">
            <a:avLst/>
          </a:prstGeom>
          <a:noFill/>
          <a:ln/>
        </p:spPr>
        <p:txBody>
          <a:bodyPr wrap="square" lIns="0" tIns="0" rIns="0" bIns="0" rtlCol="0" anchor="ctr"/>
          <a:lstStyle/>
          <a:p>
            <a:pPr indent="0" marL="0">
              <a:lnSpc>
                <a:spcPct val="112000"/>
              </a:lnSpc>
              <a:buNone/>
            </a:pPr>
            <a:r>
              <a:rPr lang="en-US" sz="1250" dirty="0">
                <a:solidFill>
                  <a:schemeClr val="tx1"/>
                </a:solidFill>
              </a:rPr>
              <a:t>input (the customer's text) · tool (corpus text on its way into a prompt) · output (the determination). The tool surface is the one people forget: an agent holds tools, and text that reaches it can try to use them.</a:t>
            </a:r>
            <a:endParaRPr lang="en-US" sz="1250" dirty="0"/>
          </a:p>
        </p:txBody>
      </p:sp>
      <p:sp>
        <p:nvSpPr>
          <p:cNvPr id="33" name="output-guard"/>
          <p:cNvSpPr/>
          <p:nvPr/>
        </p:nvSpPr>
        <p:spPr>
          <a:xfrm>
            <a:off x="566928" y="4864608"/>
            <a:ext cx="11027664" cy="1298448"/>
          </a:xfrm>
          <a:prstGeom prst="roundRect">
            <a:avLst>
              <a:gd name="adj" fmla="val 5634"/>
            </a:avLst>
          </a:prstGeom>
          <a:solidFill>
            <a:schemeClr val="tx2"/>
          </a:solidFill>
          <a:ln/>
        </p:spPr>
      </p:sp>
      <p:sp>
        <p:nvSpPr>
          <p:cNvPr id="34" name="og-head"/>
          <p:cNvSpPr txBox="1"/>
          <p:nvPr/>
        </p:nvSpPr>
        <p:spPr>
          <a:xfrm>
            <a:off x="877824" y="5029200"/>
            <a:ext cx="10405872" cy="310896"/>
          </a:xfrm>
          <a:prstGeom prst="rect">
            <a:avLst/>
          </a:prstGeom>
          <a:noFill/>
          <a:ln/>
        </p:spPr>
        <p:txBody>
          <a:bodyPr wrap="square" lIns="0" tIns="0" rIns="0" bIns="0" rtlCol="0" anchor="ctr"/>
          <a:lstStyle/>
          <a:p>
            <a:pPr indent="0" marL="0">
              <a:buNone/>
            </a:pPr>
            <a:r>
              <a:rPr lang="en-US" sz="1500" b="1" dirty="0">
                <a:solidFill>
                  <a:srgbClr val="E0A458"/>
                </a:solidFill>
              </a:rPr>
              <a:t>The output filter is what makes the system safe regardless of how an answer got drafted</a:t>
            </a:r>
            <a:endParaRPr lang="en-US" sz="1500" dirty="0"/>
          </a:p>
        </p:txBody>
      </p:sp>
      <p:sp>
        <p:nvSpPr>
          <p:cNvPr id="35" name="og-body"/>
          <p:cNvSpPr txBox="1"/>
          <p:nvPr/>
        </p:nvSpPr>
        <p:spPr>
          <a:xfrm>
            <a:off x="877824" y="5376672"/>
            <a:ext cx="10405872" cy="694944"/>
          </a:xfrm>
          <a:prstGeom prst="rect">
            <a:avLst/>
          </a:prstGeom>
          <a:noFill/>
          <a:ln/>
        </p:spPr>
        <p:txBody>
          <a:bodyPr wrap="square" lIns="0" tIns="0" rIns="0" bIns="0" rtlCol="0" anchor="ctr"/>
          <a:lstStyle/>
          <a:p>
            <a:pPr indent="0" marL="0">
              <a:lnSpc>
                <a:spcPct val="112000"/>
              </a:lnSpc>
              <a:buNone/>
            </a:pPr>
            <a:r>
              <a:rPr lang="en-US" sz="1300" dirty="0">
                <a:solidFill>
                  <a:srgbClr val="C2C8D6"/>
                </a:solidFill>
              </a:rPr>
              <a:t>If the model writes “the claim is approved and we will pay the full amount”, that sentence never leaves the process. The run is converted to a human escalation, the coverage position is replaced with undetermined, and the guardrail event is attached to the result. The service is advisory by construction, not by instruction.</a:t>
            </a:r>
            <a:endParaRPr lang="en-US" sz="1300" dirty="0"/>
          </a:p>
        </p:txBody>
      </p:sp>
      <p:sp>
        <p:nvSpPr>
          <p:cNvPr id="37"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How it is evaluated</a:t>
            </a:r>
            <a:endParaRPr lang="en-US" sz="3200" dirty="0"/>
          </a:p>
        </p:txBody>
      </p:sp>
      <p:sp>
        <p:nvSpPr>
          <p:cNvPr id="3" name="evalstat-0-value"/>
          <p:cNvSpPr txBox="1"/>
          <p:nvPr/>
        </p:nvSpPr>
        <p:spPr>
          <a:xfrm>
            <a:off x="566928" y="1243584"/>
            <a:ext cx="2560320" cy="676656"/>
          </a:xfrm>
          <a:prstGeom prst="rect">
            <a:avLst/>
          </a:prstGeom>
          <a:noFill/>
          <a:ln/>
        </p:spPr>
        <p:txBody>
          <a:bodyPr wrap="square" lIns="0" tIns="0" rIns="0" bIns="0" rtlCol="0" anchor="b"/>
          <a:lstStyle/>
          <a:p>
            <a:pPr algn="l" indent="0" marL="0">
              <a:buNone/>
            </a:pPr>
            <a:r>
              <a:rPr lang="en-US" sz="4000" b="1" dirty="0">
                <a:solidFill>
                  <a:schemeClr val="accent1"/>
                </a:solidFill>
              </a:rPr>
              <a:t>25</a:t>
            </a:r>
            <a:endParaRPr lang="en-US" sz="4000" dirty="0"/>
          </a:p>
        </p:txBody>
      </p:sp>
      <p:sp>
        <p:nvSpPr>
          <p:cNvPr id="4" name="evalstat-0-label"/>
          <p:cNvSpPr txBox="1"/>
          <p:nvPr/>
        </p:nvSpPr>
        <p:spPr>
          <a:xfrm>
            <a:off x="566928" y="1938528"/>
            <a:ext cx="2560320" cy="566928"/>
          </a:xfrm>
          <a:prstGeom prst="rect">
            <a:avLst/>
          </a:prstGeom>
          <a:noFill/>
          <a:ln/>
        </p:spPr>
        <p:txBody>
          <a:bodyPr wrap="square" lIns="0" tIns="0" rIns="0" bIns="0" rtlCol="0" anchor="t"/>
          <a:lstStyle/>
          <a:p>
            <a:pPr algn="l" indent="0" marL="0">
              <a:lnSpc>
                <a:spcPct val="110000"/>
              </a:lnSpc>
              <a:buNone/>
            </a:pPr>
            <a:r>
              <a:rPr lang="en-US" sz="1150" dirty="0">
                <a:solidFill>
                  <a:srgbClr val="5A6378"/>
                </a:solidFill>
              </a:rPr>
              <a:t>scenarios, each with the</a:t>
            </a:r>
            <a:endParaRPr lang="en-US" sz="1150" dirty="0"/>
          </a:p>
          <a:p>
            <a:pPr algn="l" indent="0" marL="0">
              <a:lnSpc>
                <a:spcPct val="110000"/>
              </a:lnSpc>
              <a:buNone/>
            </a:pPr>
            <a:r>
              <a:rPr lang="en-US" sz="1150" dirty="0">
                <a:solidFill>
                  <a:srgbClr val="5A6378"/>
                </a:solidFill>
              </a:rPr>
              <a:t>passage that supports it</a:t>
            </a:r>
            <a:endParaRPr lang="en-US" sz="1150" dirty="0"/>
          </a:p>
        </p:txBody>
      </p:sp>
      <p:sp>
        <p:nvSpPr>
          <p:cNvPr id="5" name="evalstat-1-value"/>
          <p:cNvSpPr txBox="1"/>
          <p:nvPr/>
        </p:nvSpPr>
        <p:spPr>
          <a:xfrm>
            <a:off x="3374136" y="1243584"/>
            <a:ext cx="2560320" cy="676656"/>
          </a:xfrm>
          <a:prstGeom prst="rect">
            <a:avLst/>
          </a:prstGeom>
          <a:noFill/>
          <a:ln/>
        </p:spPr>
        <p:txBody>
          <a:bodyPr wrap="square" lIns="0" tIns="0" rIns="0" bIns="0" rtlCol="0" anchor="b"/>
          <a:lstStyle/>
          <a:p>
            <a:pPr algn="l" indent="0" marL="0">
              <a:buNone/>
            </a:pPr>
            <a:r>
              <a:rPr lang="en-US" sz="4000" b="1" dirty="0">
                <a:solidFill>
                  <a:schemeClr val="accent3"/>
                </a:solidFill>
              </a:rPr>
              <a:t>167</a:t>
            </a:r>
            <a:endParaRPr lang="en-US" sz="4000" dirty="0"/>
          </a:p>
        </p:txBody>
      </p:sp>
      <p:sp>
        <p:nvSpPr>
          <p:cNvPr id="6" name="evalstat-1-label"/>
          <p:cNvSpPr txBox="1"/>
          <p:nvPr/>
        </p:nvSpPr>
        <p:spPr>
          <a:xfrm>
            <a:off x="3374136" y="1938528"/>
            <a:ext cx="2560320" cy="566928"/>
          </a:xfrm>
          <a:prstGeom prst="rect">
            <a:avLst/>
          </a:prstGeom>
          <a:noFill/>
          <a:ln/>
        </p:spPr>
        <p:txBody>
          <a:bodyPr wrap="square" lIns="0" tIns="0" rIns="0" bIns="0" rtlCol="0" anchor="t"/>
          <a:lstStyle/>
          <a:p>
            <a:pPr algn="l" indent="0" marL="0">
              <a:lnSpc>
                <a:spcPct val="110000"/>
              </a:lnSpc>
              <a:buNone/>
            </a:pPr>
            <a:r>
              <a:rPr lang="en-US" sz="1150" dirty="0">
                <a:solidFill>
                  <a:srgbClr val="5A6378"/>
                </a:solidFill>
              </a:rPr>
              <a:t>tests, 4 seconds,</a:t>
            </a:r>
            <a:endParaRPr lang="en-US" sz="1150" dirty="0"/>
          </a:p>
          <a:p>
            <a:pPr algn="l" indent="0" marL="0">
              <a:lnSpc>
                <a:spcPct val="110000"/>
              </a:lnSpc>
              <a:buNone/>
            </a:pPr>
            <a:r>
              <a:rPr lang="en-US" sz="1150" dirty="0">
                <a:solidFill>
                  <a:srgbClr val="5A6378"/>
                </a:solidFill>
              </a:rPr>
              <a:t>no infrastructure needed</a:t>
            </a:r>
            <a:endParaRPr lang="en-US" sz="1150" dirty="0"/>
          </a:p>
        </p:txBody>
      </p:sp>
      <p:sp>
        <p:nvSpPr>
          <p:cNvPr id="7" name="evalstat-2-value"/>
          <p:cNvSpPr txBox="1"/>
          <p:nvPr/>
        </p:nvSpPr>
        <p:spPr>
          <a:xfrm>
            <a:off x="6181344" y="1243584"/>
            <a:ext cx="2560320" cy="676656"/>
          </a:xfrm>
          <a:prstGeom prst="rect">
            <a:avLst/>
          </a:prstGeom>
          <a:noFill/>
          <a:ln/>
        </p:spPr>
        <p:txBody>
          <a:bodyPr wrap="square" lIns="0" tIns="0" rIns="0" bIns="0" rtlCol="0" anchor="b"/>
          <a:lstStyle/>
          <a:p>
            <a:pPr algn="l" indent="0" marL="0">
              <a:buNone/>
            </a:pPr>
            <a:r>
              <a:rPr lang="en-US" sz="4000" b="1" dirty="0">
                <a:solidFill>
                  <a:schemeClr val="accent2"/>
                </a:solidFill>
              </a:rPr>
              <a:t>4</a:t>
            </a:r>
            <a:endParaRPr lang="en-US" sz="4000" dirty="0"/>
          </a:p>
        </p:txBody>
      </p:sp>
      <p:sp>
        <p:nvSpPr>
          <p:cNvPr id="8" name="evalstat-2-label"/>
          <p:cNvSpPr txBox="1"/>
          <p:nvPr/>
        </p:nvSpPr>
        <p:spPr>
          <a:xfrm>
            <a:off x="6181344" y="1938528"/>
            <a:ext cx="2560320" cy="566928"/>
          </a:xfrm>
          <a:prstGeom prst="rect">
            <a:avLst/>
          </a:prstGeom>
          <a:noFill/>
          <a:ln/>
        </p:spPr>
        <p:txBody>
          <a:bodyPr wrap="square" lIns="0" tIns="0" rIns="0" bIns="0" rtlCol="0" anchor="t"/>
          <a:lstStyle/>
          <a:p>
            <a:pPr algn="l" indent="0" marL="0">
              <a:lnSpc>
                <a:spcPct val="110000"/>
              </a:lnSpc>
              <a:buNone/>
            </a:pPr>
            <a:r>
              <a:rPr lang="en-US" sz="1150" dirty="0">
                <a:solidFill>
                  <a:srgbClr val="5A6378"/>
                </a:solidFill>
              </a:rPr>
              <a:t>metrics, each with its</a:t>
            </a:r>
            <a:endParaRPr lang="en-US" sz="1150" dirty="0"/>
          </a:p>
          <a:p>
            <a:pPr algn="l" indent="0" marL="0">
              <a:lnSpc>
                <a:spcPct val="110000"/>
              </a:lnSpc>
              <a:buNone/>
            </a:pPr>
            <a:r>
              <a:rPr lang="en-US" sz="1150" dirty="0">
                <a:solidFill>
                  <a:srgbClr val="5A6378"/>
                </a:solidFill>
              </a:rPr>
              <a:t>computation written down</a:t>
            </a:r>
            <a:endParaRPr lang="en-US" sz="1150" dirty="0"/>
          </a:p>
        </p:txBody>
      </p:sp>
      <p:sp>
        <p:nvSpPr>
          <p:cNvPr id="9" name="evalstat-3-value"/>
          <p:cNvSpPr txBox="1"/>
          <p:nvPr/>
        </p:nvSpPr>
        <p:spPr>
          <a:xfrm>
            <a:off x="8988552" y="1243584"/>
            <a:ext cx="2560320" cy="676656"/>
          </a:xfrm>
          <a:prstGeom prst="rect">
            <a:avLst/>
          </a:prstGeom>
          <a:noFill/>
          <a:ln/>
        </p:spPr>
        <p:txBody>
          <a:bodyPr wrap="square" lIns="0" tIns="0" rIns="0" bIns="0" rtlCol="0" anchor="b"/>
          <a:lstStyle/>
          <a:p>
            <a:pPr algn="l" indent="0" marL="0">
              <a:buNone/>
            </a:pPr>
            <a:r>
              <a:rPr lang="en-US" sz="4000" b="1" dirty="0">
                <a:solidFill>
                  <a:srgbClr val="5A6378"/>
                </a:solidFill>
              </a:rPr>
              <a:t>6</a:t>
            </a:r>
            <a:endParaRPr lang="en-US" sz="4000" dirty="0"/>
          </a:p>
        </p:txBody>
      </p:sp>
      <p:sp>
        <p:nvSpPr>
          <p:cNvPr id="10" name="evalstat-3-label"/>
          <p:cNvSpPr txBox="1"/>
          <p:nvPr/>
        </p:nvSpPr>
        <p:spPr>
          <a:xfrm>
            <a:off x="8988552" y="1938528"/>
            <a:ext cx="2560320" cy="566928"/>
          </a:xfrm>
          <a:prstGeom prst="rect">
            <a:avLst/>
          </a:prstGeom>
          <a:noFill/>
          <a:ln/>
        </p:spPr>
        <p:txBody>
          <a:bodyPr wrap="square" lIns="0" tIns="0" rIns="0" bIns="0" rtlCol="0" anchor="t"/>
          <a:lstStyle/>
          <a:p>
            <a:pPr algn="l" indent="0" marL="0">
              <a:lnSpc>
                <a:spcPct val="110000"/>
              </a:lnSpc>
              <a:buNone/>
            </a:pPr>
            <a:r>
              <a:rPr lang="en-US" sz="1150" dirty="0">
                <a:solidFill>
                  <a:srgbClr val="5A6378"/>
                </a:solidFill>
              </a:rPr>
              <a:t>must be rejected before</a:t>
            </a:r>
            <a:endParaRPr lang="en-US" sz="1150" dirty="0"/>
          </a:p>
          <a:p>
            <a:pPr algn="l" indent="0" marL="0">
              <a:lnSpc>
                <a:spcPct val="110000"/>
              </a:lnSpc>
              <a:buNone/>
            </a:pPr>
            <a:r>
              <a:rPr lang="en-US" sz="1150" dirty="0">
                <a:solidFill>
                  <a:srgbClr val="5A6378"/>
                </a:solidFill>
              </a:rPr>
              <a:t>any agent run starts</a:t>
            </a:r>
            <a:endParaRPr lang="en-US" sz="1150" dirty="0"/>
          </a:p>
        </p:txBody>
      </p:sp>
      <p:sp>
        <p:nvSpPr>
          <p:cNvPr id="11" name="metric-0"/>
          <p:cNvSpPr/>
          <p:nvPr/>
        </p:nvSpPr>
        <p:spPr>
          <a:xfrm>
            <a:off x="566928" y="2670048"/>
            <a:ext cx="11027664" cy="777240"/>
          </a:xfrm>
          <a:prstGeom prst="roundRect">
            <a:avLst>
              <a:gd name="adj" fmla="val 9412"/>
            </a:avLst>
          </a:prstGeom>
          <a:solidFill>
            <a:schemeClr val="bg2"/>
          </a:solidFill>
          <a:ln/>
        </p:spPr>
      </p:sp>
      <p:sp>
        <p:nvSpPr>
          <p:cNvPr id="12" name="metric-0-name"/>
          <p:cNvSpPr txBox="1"/>
          <p:nvPr/>
        </p:nvSpPr>
        <p:spPr>
          <a:xfrm>
            <a:off x="841248" y="2761488"/>
            <a:ext cx="2286000" cy="594360"/>
          </a:xfrm>
          <a:prstGeom prst="rect">
            <a:avLst/>
          </a:prstGeom>
          <a:noFill/>
          <a:ln/>
        </p:spPr>
        <p:txBody>
          <a:bodyPr wrap="square" lIns="0" tIns="0" rIns="0" bIns="0" rtlCol="0" anchor="ctr"/>
          <a:lstStyle/>
          <a:p>
            <a:pPr indent="0" marL="0">
              <a:buNone/>
            </a:pPr>
            <a:r>
              <a:rPr lang="en-US" sz="1350" b="1" dirty="0">
                <a:solidFill>
                  <a:schemeClr val="accent1"/>
                </a:solidFill>
              </a:rPr>
              <a:t>groundedness</a:t>
            </a:r>
            <a:endParaRPr lang="en-US" sz="1350" dirty="0"/>
          </a:p>
        </p:txBody>
      </p:sp>
      <p:sp>
        <p:nvSpPr>
          <p:cNvPr id="13" name="metric-0-body"/>
          <p:cNvSpPr txBox="1"/>
          <p:nvPr/>
        </p:nvSpPr>
        <p:spPr>
          <a:xfrm>
            <a:off x="3264408" y="2761488"/>
            <a:ext cx="8138160" cy="594360"/>
          </a:xfrm>
          <a:prstGeom prst="rect">
            <a:avLst/>
          </a:prstGeom>
          <a:noFill/>
          <a:ln/>
        </p:spPr>
        <p:txBody>
          <a:bodyPr wrap="square" lIns="0" tIns="0" rIns="0" bIns="0" rtlCol="0" anchor="ctr"/>
          <a:lstStyle/>
          <a:p>
            <a:pPr indent="0" marL="0">
              <a:lnSpc>
                <a:spcPct val="110000"/>
              </a:lnSpc>
              <a:buNone/>
            </a:pPr>
            <a:r>
              <a:rPr lang="en-US" sz="1150" dirty="0">
                <a:solidFill>
                  <a:schemeClr val="tx1"/>
                </a:solidFill>
              </a:rPr>
              <a:t>Share of the determination's statements that some retrieved passage supports. Content-word recall ≥ 0.45, a threshold set by hand-labelling 40 statements.</a:t>
            </a:r>
            <a:endParaRPr lang="en-US" sz="1150" dirty="0"/>
          </a:p>
        </p:txBody>
      </p:sp>
      <p:sp>
        <p:nvSpPr>
          <p:cNvPr id="14" name="metric-1"/>
          <p:cNvSpPr/>
          <p:nvPr/>
        </p:nvSpPr>
        <p:spPr>
          <a:xfrm>
            <a:off x="566928" y="3538728"/>
            <a:ext cx="11027664" cy="777240"/>
          </a:xfrm>
          <a:prstGeom prst="roundRect">
            <a:avLst>
              <a:gd name="adj" fmla="val 9412"/>
            </a:avLst>
          </a:prstGeom>
          <a:solidFill>
            <a:schemeClr val="bg2"/>
          </a:solidFill>
          <a:ln/>
        </p:spPr>
      </p:sp>
      <p:sp>
        <p:nvSpPr>
          <p:cNvPr id="15" name="metric-1-name"/>
          <p:cNvSpPr txBox="1"/>
          <p:nvPr/>
        </p:nvSpPr>
        <p:spPr>
          <a:xfrm>
            <a:off x="841248" y="3630168"/>
            <a:ext cx="2286000" cy="594360"/>
          </a:xfrm>
          <a:prstGeom prst="rect">
            <a:avLst/>
          </a:prstGeom>
          <a:noFill/>
          <a:ln/>
        </p:spPr>
        <p:txBody>
          <a:bodyPr wrap="square" lIns="0" tIns="0" rIns="0" bIns="0" rtlCol="0" anchor="ctr"/>
          <a:lstStyle/>
          <a:p>
            <a:pPr indent="0" marL="0">
              <a:buNone/>
            </a:pPr>
            <a:r>
              <a:rPr lang="en-US" sz="1350" b="1" dirty="0">
                <a:solidFill>
                  <a:schemeClr val="accent1"/>
                </a:solidFill>
              </a:rPr>
              <a:t>context relevance</a:t>
            </a:r>
            <a:endParaRPr lang="en-US" sz="1350" dirty="0"/>
          </a:p>
        </p:txBody>
      </p:sp>
      <p:sp>
        <p:nvSpPr>
          <p:cNvPr id="16" name="metric-1-body"/>
          <p:cNvSpPr txBox="1"/>
          <p:nvPr/>
        </p:nvSpPr>
        <p:spPr>
          <a:xfrm>
            <a:off x="3264408" y="3630168"/>
            <a:ext cx="8138160" cy="594360"/>
          </a:xfrm>
          <a:prstGeom prst="rect">
            <a:avLst/>
          </a:prstGeom>
          <a:noFill/>
          <a:ln/>
        </p:spPr>
        <p:txBody>
          <a:bodyPr wrap="square" lIns="0" tIns="0" rIns="0" bIns="0" rtlCol="0" anchor="ctr"/>
          <a:lstStyle/>
          <a:p>
            <a:pPr indent="0" marL="0">
              <a:lnSpc>
                <a:spcPct val="110000"/>
              </a:lnSpc>
              <a:buNone/>
            </a:pPr>
            <a:r>
              <a:rPr lang="en-US" sz="1150" dirty="0">
                <a:solidFill>
                  <a:schemeClr val="tx1"/>
                </a:solidFill>
              </a:rPr>
              <a:t>Share of the passages shown to the model that bear on the claim. Threshold deliberately low — a clause and a claim share little vocabulary by nature.</a:t>
            </a:r>
            <a:endParaRPr lang="en-US" sz="1150" dirty="0"/>
          </a:p>
        </p:txBody>
      </p:sp>
      <p:sp>
        <p:nvSpPr>
          <p:cNvPr id="17" name="metric-2"/>
          <p:cNvSpPr/>
          <p:nvPr/>
        </p:nvSpPr>
        <p:spPr>
          <a:xfrm>
            <a:off x="566928" y="4407408"/>
            <a:ext cx="11027664" cy="777240"/>
          </a:xfrm>
          <a:prstGeom prst="roundRect">
            <a:avLst>
              <a:gd name="adj" fmla="val 9412"/>
            </a:avLst>
          </a:prstGeom>
          <a:solidFill>
            <a:schemeClr val="bg2"/>
          </a:solidFill>
          <a:ln/>
        </p:spPr>
      </p:sp>
      <p:sp>
        <p:nvSpPr>
          <p:cNvPr id="18" name="metric-2-name"/>
          <p:cNvSpPr txBox="1"/>
          <p:nvPr/>
        </p:nvSpPr>
        <p:spPr>
          <a:xfrm>
            <a:off x="841248" y="4498848"/>
            <a:ext cx="2286000" cy="594360"/>
          </a:xfrm>
          <a:prstGeom prst="rect">
            <a:avLst/>
          </a:prstGeom>
          <a:noFill/>
          <a:ln/>
        </p:spPr>
        <p:txBody>
          <a:bodyPr wrap="square" lIns="0" tIns="0" rIns="0" bIns="0" rtlCol="0" anchor="ctr"/>
          <a:lstStyle/>
          <a:p>
            <a:pPr indent="0" marL="0">
              <a:buNone/>
            </a:pPr>
            <a:r>
              <a:rPr lang="en-US" sz="1350" b="1" dirty="0">
                <a:solidFill>
                  <a:schemeClr val="accent1"/>
                </a:solidFill>
              </a:rPr>
              <a:t>faithfulness</a:t>
            </a:r>
            <a:endParaRPr lang="en-US" sz="1350" dirty="0"/>
          </a:p>
        </p:txBody>
      </p:sp>
      <p:sp>
        <p:nvSpPr>
          <p:cNvPr id="19" name="metric-2-body"/>
          <p:cNvSpPr txBox="1"/>
          <p:nvPr/>
        </p:nvSpPr>
        <p:spPr>
          <a:xfrm>
            <a:off x="3264408" y="4498848"/>
            <a:ext cx="8138160" cy="594360"/>
          </a:xfrm>
          <a:prstGeom prst="rect">
            <a:avLst/>
          </a:prstGeom>
          <a:noFill/>
          <a:ln/>
        </p:spPr>
        <p:txBody>
          <a:bodyPr wrap="square" lIns="0" tIns="0" rIns="0" bIns="0" rtlCol="0" anchor="ctr"/>
          <a:lstStyle/>
          <a:p>
            <a:pPr indent="0" marL="0">
              <a:lnSpc>
                <a:spcPct val="110000"/>
              </a:lnSpc>
              <a:buNone/>
            </a:pPr>
            <a:r>
              <a:rPr lang="en-US" sz="1150" dirty="0">
                <a:solidFill>
                  <a:schemeClr val="tx1"/>
                </a:solidFill>
              </a:rPr>
              <a:t>Share of citations whose quote is found character-for-character in the clause it names. The strictest of the four, and the one that cannot be argued with.</a:t>
            </a:r>
            <a:endParaRPr lang="en-US" sz="1150" dirty="0"/>
          </a:p>
        </p:txBody>
      </p:sp>
      <p:sp>
        <p:nvSpPr>
          <p:cNvPr id="20" name="metric-3"/>
          <p:cNvSpPr/>
          <p:nvPr/>
        </p:nvSpPr>
        <p:spPr>
          <a:xfrm>
            <a:off x="566928" y="5276088"/>
            <a:ext cx="11027664" cy="777240"/>
          </a:xfrm>
          <a:prstGeom prst="roundRect">
            <a:avLst>
              <a:gd name="adj" fmla="val 9412"/>
            </a:avLst>
          </a:prstGeom>
          <a:solidFill>
            <a:schemeClr val="bg2"/>
          </a:solidFill>
          <a:ln/>
        </p:spPr>
      </p:sp>
      <p:sp>
        <p:nvSpPr>
          <p:cNvPr id="21" name="metric-3-name"/>
          <p:cNvSpPr txBox="1"/>
          <p:nvPr/>
        </p:nvSpPr>
        <p:spPr>
          <a:xfrm>
            <a:off x="841248" y="5367528"/>
            <a:ext cx="2286000" cy="594360"/>
          </a:xfrm>
          <a:prstGeom prst="rect">
            <a:avLst/>
          </a:prstGeom>
          <a:noFill/>
          <a:ln/>
        </p:spPr>
        <p:txBody>
          <a:bodyPr wrap="square" lIns="0" tIns="0" rIns="0" bIns="0" rtlCol="0" anchor="ctr"/>
          <a:lstStyle/>
          <a:p>
            <a:pPr indent="0" marL="0">
              <a:buNone/>
            </a:pPr>
            <a:r>
              <a:rPr lang="en-US" sz="1350" b="1" dirty="0">
                <a:solidFill>
                  <a:schemeClr val="accent1"/>
                </a:solidFill>
              </a:rPr>
              <a:t>hallucination rate</a:t>
            </a:r>
            <a:endParaRPr lang="en-US" sz="1350" dirty="0"/>
          </a:p>
        </p:txBody>
      </p:sp>
      <p:sp>
        <p:nvSpPr>
          <p:cNvPr id="22" name="metric-3-body"/>
          <p:cNvSpPr txBox="1"/>
          <p:nvPr/>
        </p:nvSpPr>
        <p:spPr>
          <a:xfrm>
            <a:off x="3264408" y="5367528"/>
            <a:ext cx="8138160" cy="594360"/>
          </a:xfrm>
          <a:prstGeom prst="rect">
            <a:avLst/>
          </a:prstGeom>
          <a:noFill/>
          <a:ln/>
        </p:spPr>
        <p:txBody>
          <a:bodyPr wrap="square" lIns="0" tIns="0" rIns="0" bIns="0" rtlCol="0" anchor="ctr"/>
          <a:lstStyle/>
          <a:p>
            <a:pPr indent="0" marL="0">
              <a:lnSpc>
                <a:spcPct val="110000"/>
              </a:lnSpc>
              <a:buNone/>
            </a:pPr>
            <a:r>
              <a:rPr lang="en-US" sz="1150" dirty="0">
                <a:solidFill>
                  <a:schemeClr val="tx1"/>
                </a:solidFill>
              </a:rPr>
              <a:t>Share of records asserting a confident position they could not support. Escalating is explicitly NOT counted — a metric that punished declining to answer would push the system the wrong way.</a:t>
            </a:r>
            <a:endParaRPr lang="en-US" sz="1150" dirty="0"/>
          </a:p>
        </p:txBody>
      </p:sp>
      <p:sp>
        <p:nvSpPr>
          <p:cNvPr id="23" name="eval-foot"/>
          <p:cNvSpPr txBox="1"/>
          <p:nvPr/>
        </p:nvSpPr>
        <p:spPr>
          <a:xfrm>
            <a:off x="566928" y="6181344"/>
            <a:ext cx="11027664" cy="274320"/>
          </a:xfrm>
          <a:prstGeom prst="rect">
            <a:avLst/>
          </a:prstGeom>
          <a:noFill/>
          <a:ln/>
        </p:spPr>
        <p:txBody>
          <a:bodyPr wrap="square" lIns="0" tIns="0" rIns="0" bIns="0" rtlCol="0" anchor="ctr"/>
          <a:lstStyle/>
          <a:p>
            <a:pPr indent="0" marL="0">
              <a:buNone/>
            </a:pPr>
            <a:r>
              <a:rPr lang="en-US" sz="1050" i="1" dirty="0">
                <a:solidFill>
                  <a:srgbClr val="5A6378"/>
                </a:solidFill>
              </a:rPr>
              <a:t>Covering the reference case and its control, restricted use, the driver's clause, conditions, out-of-corpus escalation, guardrails and contract validation.</a:t>
            </a:r>
            <a:endParaRPr lang="en-US" sz="1050" dirty="0"/>
          </a:p>
        </p:txBody>
      </p:sp>
      <p:sp>
        <p:nvSpPr>
          <p:cNvPr id="25"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The objective, declared before measuring</a:t>
            </a:r>
            <a:endParaRPr lang="en-US" sz="3200" dirty="0"/>
          </a:p>
        </p:txBody>
      </p:sp>
      <p:graphicFrame>
        <p:nvGraphicFramePr>
          <p:cNvPr id="3" name="Chart 0" descr=""/>
          <p:cNvGraphicFramePr/>
          <p:nvPr>
            <p:ph idx="101" type="chart" hasCustomPrompt="1"/>
          </p:nvPr>
        </p:nvGraphicFramePr>
        <p:xfrm>
          <a:off x="566928" y="1280160"/>
          <a:ext cx="685800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7699248" y="1280160"/>
            <a:ext cx="3895344" cy="4480560"/>
          </a:xfrm>
          <a:prstGeom prst="rect">
            <a:avLst/>
          </a:prstGeom>
          <a:noFill/>
          <a:ln/>
        </p:spPr>
        <p:txBody>
          <a:bodyPr wrap="square" rtlCol="0" anchor="t"/>
          <a:lstStyle/>
          <a:p>
            <a:pPr indent="0" marL="0">
              <a:buNone/>
            </a:pPr>
            <a:r>
              <a:rPr lang="en-US" sz="1500" b="1" dirty="0">
                <a:solidFill>
                  <a:srgbClr val="B85042"/>
                </a:solidFill>
              </a:rPr>
              <a:t>p95 ≤ 45 s, submission to final result
</a:t>
            </a:r>
            <a:endParaRPr lang="en-US" sz="1400" dirty="0"/>
          </a:p>
          <a:p>
            <a:pPr indent="0" marL="0">
              <a:buNone/>
            </a:pPr>
            <a:r>
              <a:rPr lang="en-US" sz="1250" dirty="0">
                <a:solidFill>
                  <a:srgbClr val="16181F"/>
                </a:solidFill>
              </a:rPr>
              <a:t>Written into .env.example, the Prometheus alert and the dashboard threshold before the first load test ran. Not a customer-facing wait: the submission call returns in 4 ms.
</a:t>
            </a:r>
            <a:endParaRPr lang="en-US" sz="1400" dirty="0"/>
          </a:p>
          <a:p>
            <a:pPr indent="0" marL="0">
              <a:buNone/>
            </a:pPr>
            <a:r>
              <a:rPr lang="en-US" sz="1350" b="1" dirty="0">
                <a:solidFill>
                  <a:srgbClr val="8C3B30"/>
                </a:solidFill>
              </a:rPr>
              <a:t>The target fails at about 640 callers.
</a:t>
            </a:r>
            <a:endParaRPr lang="en-US" sz="1400" dirty="0"/>
          </a:p>
          <a:p>
            <a:pPr indent="0" marL="0">
              <a:buNone/>
            </a:pPr>
            <a:r>
              <a:rPr lang="en-US" sz="1250" dirty="0">
                <a:solidFill>
                  <a:srgbClr val="16181F"/>
                </a:solidFill>
              </a:rPr>
              <a:t>Throughput peaks near 150 callers, then falls as latency climbs.
</a:t>
            </a:r>
            <a:endParaRPr lang="en-US" sz="1400" dirty="0"/>
          </a:p>
          <a:p>
            <a:pPr indent="0" marL="0">
              <a:buNone/>
            </a:pPr>
            <a:r>
              <a:rPr lang="en-US" sz="1350" b="1" dirty="0">
                <a:solidFill>
                  <a:srgbClr val="8C3B30"/>
                </a:solidFill>
              </a:rPr>
              <a:t>The component responsible: a 40-thread pool.
</a:t>
            </a:r>
            <a:endParaRPr lang="en-US" sz="1400" dirty="0"/>
          </a:p>
          <a:p>
            <a:pPr indent="0" marL="0">
              <a:buNone/>
            </a:pPr>
            <a:r>
              <a:rPr lang="en-US" sz="1250" dirty="0">
                <a:solidFill>
                  <a:srgbClr val="16181F"/>
                </a:solidFill>
              </a:rPr>
              <a:t>triage_inflight_runs pinned at 38, never above 40. Little's law: 40 slots ÷ 2.6 s = 15.4 runs/s — the measured ceiling.</a:t>
            </a:r>
            <a:endParaRPr lang="en-US" sz="1400" dirty="0"/>
          </a:p>
        </p:txBody>
      </p:sp>
      <p:sp>
        <p:nvSpPr>
          <p:cNvPr id="5" name="perf-caveat"/>
          <p:cNvSpPr txBox="1"/>
          <p:nvPr/>
        </p:nvSpPr>
        <p:spPr>
          <a:xfrm>
            <a:off x="566928" y="5888736"/>
            <a:ext cx="11027664" cy="384048"/>
          </a:xfrm>
          <a:prstGeom prst="rect">
            <a:avLst/>
          </a:prstGeom>
          <a:noFill/>
          <a:ln/>
        </p:spPr>
        <p:txBody>
          <a:bodyPr wrap="square" lIns="0" tIns="0" rIns="0" bIns="0" rtlCol="0" anchor="ctr"/>
          <a:lstStyle/>
          <a:p>
            <a:pPr indent="0" marL="0">
              <a:buNone/>
            </a:pPr>
            <a:r>
              <a:rPr lang="en-US" sz="1050" i="1" dirty="0">
                <a:solidFill>
                  <a:srgbClr val="5A6378"/>
                </a:solidFill>
              </a:rPr>
              <a:t>Measured outside Docker in inline execution mode — so the ceiling and the bottleneck are artefacts of that topology, not the queue-and-worker one. Stated as such in docs/load-test.md.</a:t>
            </a:r>
            <a:endParaRPr lang="en-US" sz="10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Where the tokens go, and what caching is worth</a:t>
            </a:r>
            <a:endParaRPr lang="en-US" sz="3200" dirty="0"/>
          </a:p>
        </p:txBody>
      </p:sp>
      <p:graphicFrame>
        <p:nvGraphicFramePr>
          <p:cNvPr id="3" name="Chart 0" descr=""/>
          <p:cNvGraphicFramePr/>
          <p:nvPr>
            <p:ph idx="101" type="chart" hasCustomPrompt="1"/>
          </p:nvPr>
        </p:nvGraphicFramePr>
        <p:xfrm>
          <a:off x="566928" y="1280160"/>
          <a:ext cx="6858000" cy="4480560"/>
        </p:xfrm>
        <a:graphic xmlns:a="http://schemas.openxmlformats.org/drawingml/2006/main">
          <a:graphicData uri="http://schemas.openxmlformats.org/drawingml/2006/chart">
            <c:chart xmlns:c="http://schemas.openxmlformats.org/drawingml/2006/chart" r:id="rId1"/>
          </a:graphicData>
        </a:graphic>
      </p:graphicFrame>
      <p:sp>
        <p:nvSpPr>
          <p:cNvPr id="4" name="Text 0"/>
          <p:cNvSpPr/>
          <p:nvPr>
            <p:ph idx="102" type="body" hasCustomPrompt="1"/>
          </p:nvPr>
        </p:nvSpPr>
        <p:spPr>
          <a:xfrm>
            <a:off x="7699248" y="1280160"/>
            <a:ext cx="3895344" cy="4480560"/>
          </a:xfrm>
          <a:prstGeom prst="rect">
            <a:avLst/>
          </a:prstGeom>
          <a:noFill/>
          <a:ln/>
        </p:spPr>
        <p:txBody>
          <a:bodyPr wrap="square" rtlCol="0" anchor="t"/>
          <a:lstStyle/>
          <a:p>
            <a:pPr indent="0" marL="0">
              <a:buNone/>
            </a:pPr>
            <a:r>
              <a:rPr lang="en-US" sz="1700" b="1" dirty="0">
                <a:solidFill>
                  <a:srgbClr val="B85042"/>
                </a:solidFill>
              </a:rPr>
              <a:t>15,390 tokens per run
</a:t>
            </a:r>
            <a:endParaRPr lang="en-US" sz="1400" dirty="0"/>
          </a:p>
          <a:p>
            <a:pPr indent="0" marL="0">
              <a:buNone/>
            </a:pPr>
            <a:r>
              <a:rPr lang="en-US" sz="1250" dirty="0">
                <a:solidFill>
                  <a:srgbClr val="16181F"/>
                </a:solidFill>
              </a:rPr>
              <a:t>1.54 M per 100 runs, 96% of it input. USD 0.00 on a free tier; about $0.94 per 100 runs on a mid-size hosted model.
</a:t>
            </a:r>
            <a:endParaRPr lang="en-US" sz="1400" dirty="0"/>
          </a:p>
          <a:p>
            <a:pPr indent="0" marL="0">
              <a:buNone/>
            </a:pPr>
            <a:r>
              <a:rPr lang="en-US" sz="1350" b="1" dirty="0">
                <a:solidFill>
                  <a:srgbClr val="8C3B30"/>
                </a:solidFill>
              </a:rPr>
              <a:t>The driver is the retrieved context block.
</a:t>
            </a:r>
            <a:endParaRPr lang="en-US" sz="1400" dirty="0"/>
          </a:p>
          <a:p>
            <a:pPr indent="0" marL="0">
              <a:buNone/>
            </a:pPr>
            <a:r>
              <a:rPr lang="en-US" sz="1250" dirty="0">
                <a:solidFill>
                  <a:srgbClr val="16181F"/>
                </a:solidFill>
              </a:rPr>
              <a:t>The three expensive steps are exactly the three that receive it — 88% of the run — and it is serialised into the prompt three times. Trimming the verifier's context to the cited clauses would save roughly 25%.
</a:t>
            </a:r>
            <a:endParaRPr lang="en-US" sz="1400" dirty="0"/>
          </a:p>
          <a:p>
            <a:pPr indent="0" marL="0">
              <a:buNone/>
            </a:pPr>
            <a:r>
              <a:rPr lang="en-US" sz="1250" i="1" dirty="0">
                <a:solidFill>
                  <a:srgbClr val="5A6378"/>
                </a:solidFill>
              </a:rPr>
              <a:t>It was not done, and that is recorded.</a:t>
            </a:r>
            <a:endParaRPr lang="en-US" sz="1400" dirty="0"/>
          </a:p>
        </p:txBody>
      </p:sp>
      <p:sp>
        <p:nvSpPr>
          <p:cNvPr id="5" name="cache-strip"/>
          <p:cNvSpPr/>
          <p:nvPr/>
        </p:nvSpPr>
        <p:spPr>
          <a:xfrm>
            <a:off x="566928" y="5760720"/>
            <a:ext cx="11027664" cy="548640"/>
          </a:xfrm>
          <a:prstGeom prst="roundRect">
            <a:avLst>
              <a:gd name="adj" fmla="val 13333"/>
            </a:avLst>
          </a:prstGeom>
          <a:solidFill>
            <a:schemeClr val="bg2"/>
          </a:solidFill>
          <a:ln/>
        </p:spPr>
      </p:sp>
      <p:sp>
        <p:nvSpPr>
          <p:cNvPr id="6" name="cache-strip-text"/>
          <p:cNvSpPr txBox="1"/>
          <p:nvPr/>
        </p:nvSpPr>
        <p:spPr>
          <a:xfrm>
            <a:off x="877824" y="5760720"/>
            <a:ext cx="10405872" cy="548640"/>
          </a:xfrm>
          <a:prstGeom prst="rect">
            <a:avLst/>
          </a:prstGeom>
          <a:noFill/>
          <a:ln/>
        </p:spPr>
        <p:txBody>
          <a:bodyPr wrap="square" lIns="0" tIns="0" rIns="0" bIns="0" rtlCol="0" anchor="ctr"/>
          <a:lstStyle/>
          <a:p>
            <a:pPr indent="0" marL="0">
              <a:buNone/>
            </a:pPr>
            <a:r>
              <a:rPr lang="en-US" sz="1250" dirty="0">
                <a:solidFill>
                  <a:srgbClr val="16181F"/>
                </a:solidFill>
              </a:rPr>
              <a:t>Run cache, repeated claim:  </a:t>
            </a:r>
            <a:pPr indent="0" marL="0">
              <a:buNone/>
            </a:pPr>
            <a:r>
              <a:rPr lang="en-US" sz="1250" b="1" dirty="0">
                <a:solidFill>
                  <a:srgbClr val="3F7D6E"/>
                </a:solidFill>
              </a:rPr>
              <a:t>p95 2.368 s → 0.109 s   ·   tokens 14,771 → 739   ·   −95% on both</a:t>
            </a:r>
            <a:pPr indent="0" marL="0">
              <a:buNone/>
            </a:pPr>
            <a:r>
              <a:rPr lang="en-US" sz="1250" dirty="0">
                <a:solidFill>
                  <a:srgbClr val="16181F"/>
                </a:solidFill>
              </a:rPr>
              <a:t>      Unique claims:  </a:t>
            </a:r>
            <a:pPr indent="0" marL="0">
              <a:buNone/>
            </a:pPr>
            <a:r>
              <a:rPr lang="en-US" sz="1250" b="1" dirty="0">
                <a:solidFill>
                  <a:srgbClr val="5A6378"/>
                </a:solidFill>
              </a:rPr>
              <a:t>no latency effect, ~5% of tokens</a:t>
            </a:r>
            <a:endParaRPr lang="en-US" sz="12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bg1"/>
                </a:solidFill>
              </a:rPr>
              <a:t>Six incidents — five of them reported success</a:t>
            </a:r>
            <a:endParaRPr lang="en-US" sz="3200" dirty="0"/>
          </a:p>
        </p:txBody>
      </p:sp>
      <p:sp>
        <p:nvSpPr>
          <p:cNvPr id="3" name="inc-0"/>
          <p:cNvSpPr/>
          <p:nvPr/>
        </p:nvSpPr>
        <p:spPr>
          <a:xfrm>
            <a:off x="566928" y="1170432"/>
            <a:ext cx="11027664" cy="786384"/>
          </a:xfrm>
          <a:prstGeom prst="roundRect">
            <a:avLst>
              <a:gd name="adj" fmla="val 9302"/>
            </a:avLst>
          </a:prstGeom>
          <a:solidFill>
            <a:srgbClr val="2E3346"/>
          </a:solidFill>
          <a:ln/>
        </p:spPr>
      </p:sp>
      <p:sp>
        <p:nvSpPr>
          <p:cNvPr id="4" name="inc-0-n"/>
          <p:cNvSpPr txBox="1"/>
          <p:nvPr/>
        </p:nvSpPr>
        <p:spPr>
          <a:xfrm>
            <a:off x="804672" y="1261872"/>
            <a:ext cx="548640" cy="603504"/>
          </a:xfrm>
          <a:prstGeom prst="rect">
            <a:avLst/>
          </a:prstGeom>
          <a:noFill/>
          <a:ln/>
        </p:spPr>
        <p:txBody>
          <a:bodyPr wrap="square" lIns="0" tIns="0" rIns="0" bIns="0" rtlCol="0" anchor="ctr"/>
          <a:lstStyle/>
          <a:p>
            <a:pPr indent="0" marL="0">
              <a:buNone/>
            </a:pPr>
            <a:r>
              <a:rPr lang="en-US" sz="1800" b="1" dirty="0">
                <a:solidFill>
                  <a:srgbClr val="E0A458"/>
                </a:solidFill>
              </a:rPr>
              <a:t>01</a:t>
            </a:r>
            <a:endParaRPr lang="en-US" sz="1800" dirty="0"/>
          </a:p>
        </p:txBody>
      </p:sp>
      <p:sp>
        <p:nvSpPr>
          <p:cNvPr id="5" name="inc-0-head"/>
          <p:cNvSpPr txBox="1"/>
          <p:nvPr/>
        </p:nvSpPr>
        <p:spPr>
          <a:xfrm>
            <a:off x="1408176" y="1271016"/>
            <a:ext cx="4114800" cy="585216"/>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rPr>
              <a:t>Every clause filed under the wrong chapter</a:t>
            </a:r>
            <a:endParaRPr lang="en-US" sz="1250" dirty="0"/>
          </a:p>
        </p:txBody>
      </p:sp>
      <p:sp>
        <p:nvSpPr>
          <p:cNvPr id="6" name="inc-0-body"/>
          <p:cNvSpPr txBox="1"/>
          <p:nvPr/>
        </p:nvSpPr>
        <p:spPr>
          <a:xfrm>
            <a:off x="5650992" y="1271016"/>
            <a:ext cx="5760720" cy="585216"/>
          </a:xfrm>
          <a:prstGeom prst="rect">
            <a:avLst/>
          </a:prstGeom>
          <a:noFill/>
          <a:ln/>
        </p:spPr>
        <p:txBody>
          <a:bodyPr wrap="square" lIns="0" tIns="0" rIns="0" bIns="0" rtlCol="0" anchor="ctr"/>
          <a:lstStyle/>
          <a:p>
            <a:pPr indent="0" marL="0">
              <a:lnSpc>
                <a:spcPct val="108000"/>
              </a:lnSpc>
              <a:buNone/>
            </a:pPr>
            <a:r>
              <a:rPr lang="en-US" sz="1100" dirty="0">
                <a:solidFill>
                  <a:srgbClr val="B9C0CE"/>
                </a:solidFill>
              </a:rPr>
              <a:t>A trailing space in the PDF defeated the line-joining test, so a chapter heading was swallowed into the paragraph above. Citations would have quoted the right words and pointed at the wrong page. Nothing failed.</a:t>
            </a:r>
            <a:endParaRPr lang="en-US" sz="1100" dirty="0"/>
          </a:p>
        </p:txBody>
      </p:sp>
      <p:sp>
        <p:nvSpPr>
          <p:cNvPr id="7" name="inc-1"/>
          <p:cNvSpPr/>
          <p:nvPr/>
        </p:nvSpPr>
        <p:spPr>
          <a:xfrm>
            <a:off x="566928" y="2057400"/>
            <a:ext cx="11027664" cy="786384"/>
          </a:xfrm>
          <a:prstGeom prst="roundRect">
            <a:avLst>
              <a:gd name="adj" fmla="val 9302"/>
            </a:avLst>
          </a:prstGeom>
          <a:solidFill>
            <a:srgbClr val="2E3346"/>
          </a:solidFill>
          <a:ln/>
        </p:spPr>
      </p:sp>
      <p:sp>
        <p:nvSpPr>
          <p:cNvPr id="8" name="inc-1-n"/>
          <p:cNvSpPr txBox="1"/>
          <p:nvPr/>
        </p:nvSpPr>
        <p:spPr>
          <a:xfrm>
            <a:off x="804672" y="2148840"/>
            <a:ext cx="548640" cy="603504"/>
          </a:xfrm>
          <a:prstGeom prst="rect">
            <a:avLst/>
          </a:prstGeom>
          <a:noFill/>
          <a:ln/>
        </p:spPr>
        <p:txBody>
          <a:bodyPr wrap="square" lIns="0" tIns="0" rIns="0" bIns="0" rtlCol="0" anchor="ctr"/>
          <a:lstStyle/>
          <a:p>
            <a:pPr indent="0" marL="0">
              <a:buNone/>
            </a:pPr>
            <a:r>
              <a:rPr lang="en-US" sz="1800" b="1" dirty="0">
                <a:solidFill>
                  <a:srgbClr val="E0A458"/>
                </a:solidFill>
              </a:rPr>
              <a:t>02</a:t>
            </a:r>
            <a:endParaRPr lang="en-US" sz="1800" dirty="0"/>
          </a:p>
        </p:txBody>
      </p:sp>
      <p:sp>
        <p:nvSpPr>
          <p:cNvPr id="9" name="inc-1-head"/>
          <p:cNvSpPr txBox="1"/>
          <p:nvPr/>
        </p:nvSpPr>
        <p:spPr>
          <a:xfrm>
            <a:off x="1408176" y="2157984"/>
            <a:ext cx="4114800" cy="585216"/>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rPr>
              <a:t>The guardrail rewrote the text it protected</a:t>
            </a:r>
            <a:endParaRPr lang="en-US" sz="1250" dirty="0"/>
          </a:p>
        </p:txBody>
      </p:sp>
      <p:sp>
        <p:nvSpPr>
          <p:cNvPr id="10" name="inc-1-body"/>
          <p:cNvSpPr txBox="1"/>
          <p:nvPr/>
        </p:nvSpPr>
        <p:spPr>
          <a:xfrm>
            <a:off x="5650992" y="2157984"/>
            <a:ext cx="5760720" cy="585216"/>
          </a:xfrm>
          <a:prstGeom prst="rect">
            <a:avLst/>
          </a:prstGeom>
          <a:noFill/>
          <a:ln/>
        </p:spPr>
        <p:txBody>
          <a:bodyPr wrap="square" lIns="0" tIns="0" rIns="0" bIns="0" rtlCol="0" anchor="ctr"/>
          <a:lstStyle/>
          <a:p>
            <a:pPr indent="0" marL="0">
              <a:lnSpc>
                <a:spcPct val="108000"/>
              </a:lnSpc>
              <a:buNone/>
            </a:pPr>
            <a:r>
              <a:rPr lang="en-US" sz="1100" dirty="0">
                <a:solidFill>
                  <a:srgbClr val="B9C0CE"/>
                </a:solidFill>
              </a:rPr>
              <a:t>It neutralised directives inside retrieved corpus text — which the model then quoted. Quotes no longer matched the stored clause, so runs looped and escalated, looking like a retrieval fault.</a:t>
            </a:r>
            <a:endParaRPr lang="en-US" sz="1100" dirty="0"/>
          </a:p>
        </p:txBody>
      </p:sp>
      <p:sp>
        <p:nvSpPr>
          <p:cNvPr id="11" name="inc-2"/>
          <p:cNvSpPr/>
          <p:nvPr/>
        </p:nvSpPr>
        <p:spPr>
          <a:xfrm>
            <a:off x="566928" y="2944368"/>
            <a:ext cx="11027664" cy="786384"/>
          </a:xfrm>
          <a:prstGeom prst="roundRect">
            <a:avLst>
              <a:gd name="adj" fmla="val 9302"/>
            </a:avLst>
          </a:prstGeom>
          <a:solidFill>
            <a:srgbClr val="2E3346"/>
          </a:solidFill>
          <a:ln/>
        </p:spPr>
      </p:sp>
      <p:sp>
        <p:nvSpPr>
          <p:cNvPr id="12" name="inc-2-n"/>
          <p:cNvSpPr txBox="1"/>
          <p:nvPr/>
        </p:nvSpPr>
        <p:spPr>
          <a:xfrm>
            <a:off x="804672" y="3035808"/>
            <a:ext cx="548640" cy="603504"/>
          </a:xfrm>
          <a:prstGeom prst="rect">
            <a:avLst/>
          </a:prstGeom>
          <a:noFill/>
          <a:ln/>
        </p:spPr>
        <p:txBody>
          <a:bodyPr wrap="square" lIns="0" tIns="0" rIns="0" bIns="0" rtlCol="0" anchor="ctr"/>
          <a:lstStyle/>
          <a:p>
            <a:pPr indent="0" marL="0">
              <a:buNone/>
            </a:pPr>
            <a:r>
              <a:rPr lang="en-US" sz="1800" b="1" dirty="0">
                <a:solidFill>
                  <a:srgbClr val="E0A458"/>
                </a:solidFill>
              </a:rPr>
              <a:t>03</a:t>
            </a:r>
            <a:endParaRPr lang="en-US" sz="1800" dirty="0"/>
          </a:p>
        </p:txBody>
      </p:sp>
      <p:sp>
        <p:nvSpPr>
          <p:cNvPr id="13" name="inc-2-head"/>
          <p:cNvSpPr txBox="1"/>
          <p:nvPr/>
        </p:nvSpPr>
        <p:spPr>
          <a:xfrm>
            <a:off x="1408176" y="3044952"/>
            <a:ext cx="4114800" cy="585216"/>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rPr>
              <a:t>The load test declared the objective met on 100% failures</a:t>
            </a:r>
            <a:endParaRPr lang="en-US" sz="1250" dirty="0"/>
          </a:p>
        </p:txBody>
      </p:sp>
      <p:sp>
        <p:nvSpPr>
          <p:cNvPr id="14" name="inc-2-body"/>
          <p:cNvSpPr txBox="1"/>
          <p:nvPr/>
        </p:nvSpPr>
        <p:spPr>
          <a:xfrm>
            <a:off x="5650992" y="3044952"/>
            <a:ext cx="5760720" cy="585216"/>
          </a:xfrm>
          <a:prstGeom prst="rect">
            <a:avLst/>
          </a:prstGeom>
          <a:noFill/>
          <a:ln/>
        </p:spPr>
        <p:txBody>
          <a:bodyPr wrap="square" lIns="0" tIns="0" rIns="0" bIns="0" rtlCol="0" anchor="ctr"/>
          <a:lstStyle/>
          <a:p>
            <a:pPr indent="0" marL="0">
              <a:lnSpc>
                <a:spcPct val="108000"/>
              </a:lnSpc>
              <a:buNone/>
            </a:pPr>
            <a:r>
              <a:rPr lang="en-US" sz="1100" dirty="0">
                <a:solidFill>
                  <a:srgbClr val="B9C0CE"/>
                </a:solidFill>
              </a:rPr>
              <a:t>Hard-coded policy dates against a now()-derived loss date. Every claim was rejected in 3 ms, so the run looked fast: p95 0.00 s, target met.</a:t>
            </a:r>
            <a:endParaRPr lang="en-US" sz="1100" dirty="0"/>
          </a:p>
        </p:txBody>
      </p:sp>
      <p:sp>
        <p:nvSpPr>
          <p:cNvPr id="15" name="inc-3"/>
          <p:cNvSpPr/>
          <p:nvPr/>
        </p:nvSpPr>
        <p:spPr>
          <a:xfrm>
            <a:off x="566928" y="3831336"/>
            <a:ext cx="11027664" cy="786384"/>
          </a:xfrm>
          <a:prstGeom prst="roundRect">
            <a:avLst>
              <a:gd name="adj" fmla="val 9302"/>
            </a:avLst>
          </a:prstGeom>
          <a:solidFill>
            <a:srgbClr val="2E3346"/>
          </a:solidFill>
          <a:ln/>
        </p:spPr>
      </p:sp>
      <p:sp>
        <p:nvSpPr>
          <p:cNvPr id="16" name="inc-3-n"/>
          <p:cNvSpPr txBox="1"/>
          <p:nvPr/>
        </p:nvSpPr>
        <p:spPr>
          <a:xfrm>
            <a:off x="804672" y="3922776"/>
            <a:ext cx="548640" cy="603504"/>
          </a:xfrm>
          <a:prstGeom prst="rect">
            <a:avLst/>
          </a:prstGeom>
          <a:noFill/>
          <a:ln/>
        </p:spPr>
        <p:txBody>
          <a:bodyPr wrap="square" lIns="0" tIns="0" rIns="0" bIns="0" rtlCol="0" anchor="ctr"/>
          <a:lstStyle/>
          <a:p>
            <a:pPr indent="0" marL="0">
              <a:buNone/>
            </a:pPr>
            <a:r>
              <a:rPr lang="en-US" sz="1800" b="1" dirty="0">
                <a:solidFill>
                  <a:srgbClr val="E0A458"/>
                </a:solidFill>
              </a:rPr>
              <a:t>04</a:t>
            </a:r>
            <a:endParaRPr lang="en-US" sz="1800" dirty="0"/>
          </a:p>
        </p:txBody>
      </p:sp>
      <p:sp>
        <p:nvSpPr>
          <p:cNvPr id="17" name="inc-3-head"/>
          <p:cNvSpPr txBox="1"/>
          <p:nvPr/>
        </p:nvSpPr>
        <p:spPr>
          <a:xfrm>
            <a:off x="1408176" y="3931920"/>
            <a:ext cx="4114800" cy="585216"/>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rPr>
              <a:t>The cache made its own benefit invisible</a:t>
            </a:r>
            <a:endParaRPr lang="en-US" sz="1250" dirty="0"/>
          </a:p>
        </p:txBody>
      </p:sp>
      <p:sp>
        <p:nvSpPr>
          <p:cNvPr id="18" name="inc-3-body"/>
          <p:cNvSpPr txBox="1"/>
          <p:nvPr/>
        </p:nvSpPr>
        <p:spPr>
          <a:xfrm>
            <a:off x="5650992" y="3931920"/>
            <a:ext cx="5760720" cy="585216"/>
          </a:xfrm>
          <a:prstGeom prst="rect">
            <a:avLst/>
          </a:prstGeom>
          <a:noFill/>
          <a:ln/>
        </p:spPr>
        <p:txBody>
          <a:bodyPr wrap="square" lIns="0" tIns="0" rIns="0" bIns="0" rtlCol="0" anchor="ctr"/>
          <a:lstStyle/>
          <a:p>
            <a:pPr indent="0" marL="0">
              <a:lnSpc>
                <a:spcPct val="108000"/>
              </a:lnSpc>
              <a:buNone/>
            </a:pPr>
            <a:r>
              <a:rPr lang="en-US" sz="1100" dirty="0">
                <a:solidFill>
                  <a:srgbClr val="B9C0CE"/>
                </a:solidFill>
              </a:rPr>
              <a:t>A cache hit replayed the originating run's token count, inflating cost-per-100-runs by exactly the amount the cache saved.</a:t>
            </a:r>
            <a:endParaRPr lang="en-US" sz="1100" dirty="0"/>
          </a:p>
        </p:txBody>
      </p:sp>
      <p:sp>
        <p:nvSpPr>
          <p:cNvPr id="19" name="inc-4"/>
          <p:cNvSpPr/>
          <p:nvPr/>
        </p:nvSpPr>
        <p:spPr>
          <a:xfrm>
            <a:off x="566928" y="4718304"/>
            <a:ext cx="11027664" cy="786384"/>
          </a:xfrm>
          <a:prstGeom prst="roundRect">
            <a:avLst>
              <a:gd name="adj" fmla="val 9302"/>
            </a:avLst>
          </a:prstGeom>
          <a:solidFill>
            <a:srgbClr val="2E3346"/>
          </a:solidFill>
          <a:ln/>
        </p:spPr>
      </p:sp>
      <p:sp>
        <p:nvSpPr>
          <p:cNvPr id="20" name="inc-4-n"/>
          <p:cNvSpPr txBox="1"/>
          <p:nvPr/>
        </p:nvSpPr>
        <p:spPr>
          <a:xfrm>
            <a:off x="804672" y="4809744"/>
            <a:ext cx="548640" cy="603504"/>
          </a:xfrm>
          <a:prstGeom prst="rect">
            <a:avLst/>
          </a:prstGeom>
          <a:noFill/>
          <a:ln/>
        </p:spPr>
        <p:txBody>
          <a:bodyPr wrap="square" lIns="0" tIns="0" rIns="0" bIns="0" rtlCol="0" anchor="ctr"/>
          <a:lstStyle/>
          <a:p>
            <a:pPr indent="0" marL="0">
              <a:buNone/>
            </a:pPr>
            <a:r>
              <a:rPr lang="en-US" sz="1800" b="1" dirty="0">
                <a:solidFill>
                  <a:srgbClr val="E0A458"/>
                </a:solidFill>
              </a:rPr>
              <a:t>05</a:t>
            </a:r>
            <a:endParaRPr lang="en-US" sz="1800" dirty="0"/>
          </a:p>
        </p:txBody>
      </p:sp>
      <p:sp>
        <p:nvSpPr>
          <p:cNvPr id="21" name="inc-4-head"/>
          <p:cNvSpPr txBox="1"/>
          <p:nvPr/>
        </p:nvSpPr>
        <p:spPr>
          <a:xfrm>
            <a:off x="1408176" y="4818888"/>
            <a:ext cx="4114800" cy="585216"/>
          </a:xfrm>
          <a:prstGeom prst="rect">
            <a:avLst/>
          </a:prstGeom>
          <a:noFill/>
          <a:ln/>
        </p:spPr>
        <p:txBody>
          <a:bodyPr wrap="square" lIns="0" tIns="0" rIns="0" bIns="0" rtlCol="0" anchor="ctr"/>
          <a:lstStyle/>
          <a:p>
            <a:pPr indent="0" marL="0">
              <a:lnSpc>
                <a:spcPct val="104000"/>
              </a:lnSpc>
              <a:buNone/>
            </a:pPr>
            <a:r>
              <a:rPr lang="en-US" sz="1250" b="1" dirty="0">
                <a:solidFill>
                  <a:srgbClr val="FFFFFF"/>
                </a:solidFill>
              </a:rPr>
              <a:t>The largest cost driver was reported as the cheapest step</a:t>
            </a:r>
            <a:endParaRPr lang="en-US" sz="1250" dirty="0"/>
          </a:p>
        </p:txBody>
      </p:sp>
      <p:sp>
        <p:nvSpPr>
          <p:cNvPr id="22" name="inc-4-body"/>
          <p:cNvSpPr txBox="1"/>
          <p:nvPr/>
        </p:nvSpPr>
        <p:spPr>
          <a:xfrm>
            <a:off x="5650992" y="4818888"/>
            <a:ext cx="5760720" cy="585216"/>
          </a:xfrm>
          <a:prstGeom prst="rect">
            <a:avLst/>
          </a:prstGeom>
          <a:noFill/>
          <a:ln/>
        </p:spPr>
        <p:txBody>
          <a:bodyPr wrap="square" lIns="0" tIns="0" rIns="0" bIns="0" rtlCol="0" anchor="ctr"/>
          <a:lstStyle/>
          <a:p>
            <a:pPr indent="0" marL="0">
              <a:lnSpc>
                <a:spcPct val="108000"/>
              </a:lnSpc>
              <a:buNone/>
            </a:pPr>
            <a:r>
              <a:rPr lang="en-US" sz="1100" dirty="0">
                <a:solidFill>
                  <a:srgbClr val="B9C0CE"/>
                </a:solidFill>
              </a:rPr>
              <a:t>max() over per-step spend, where every price is zero on a free tier, returns whichever key comes first.</a:t>
            </a:r>
            <a:endParaRPr lang="en-US" sz="1100" dirty="0"/>
          </a:p>
        </p:txBody>
      </p:sp>
      <p:sp>
        <p:nvSpPr>
          <p:cNvPr id="23" name="thread"/>
          <p:cNvSpPr/>
          <p:nvPr/>
        </p:nvSpPr>
        <p:spPr>
          <a:xfrm>
            <a:off x="566928" y="5577840"/>
            <a:ext cx="11027664" cy="713232"/>
          </a:xfrm>
          <a:prstGeom prst="roundRect">
            <a:avLst>
              <a:gd name="adj" fmla="val 10256"/>
            </a:avLst>
          </a:prstGeom>
          <a:solidFill>
            <a:srgbClr val="3A2F2E"/>
          </a:solidFill>
          <a:ln/>
        </p:spPr>
      </p:sp>
      <p:sp>
        <p:nvSpPr>
          <p:cNvPr id="24" name="thread-text"/>
          <p:cNvSpPr txBox="1"/>
          <p:nvPr/>
        </p:nvSpPr>
        <p:spPr>
          <a:xfrm>
            <a:off x="877824" y="5577840"/>
            <a:ext cx="10405872" cy="713232"/>
          </a:xfrm>
          <a:prstGeom prst="rect">
            <a:avLst/>
          </a:prstGeom>
          <a:noFill/>
          <a:ln/>
        </p:spPr>
        <p:txBody>
          <a:bodyPr wrap="square" lIns="0" tIns="0" rIns="0" bIns="0" rtlCol="0" anchor="ctr"/>
          <a:lstStyle/>
          <a:p>
            <a:pPr indent="0" marL="0">
              <a:lnSpc>
                <a:spcPct val="108000"/>
              </a:lnSpc>
              <a:buNone/>
            </a:pPr>
            <a:r>
              <a:rPr lang="en-US" sz="1250" b="1" dirty="0">
                <a:solidFill>
                  <a:srgbClr val="E0A458"/>
                </a:solidFill>
              </a:rPr>
              <a:t>The common thread:  </a:t>
            </a:r>
            <a:pPr indent="0" marL="0">
              <a:lnSpc>
                <a:spcPct val="108000"/>
              </a:lnSpc>
              <a:buNone/>
            </a:pPr>
            <a:r>
              <a:rPr lang="en-US" sz="1250" dirty="0">
                <a:solidFill>
                  <a:srgbClr val="F3E3DF"/>
                </a:solidFill>
              </a:rPr>
              <a:t>every one produced a plausible-looking result rather than an error. That is the failure mode this kind of system has — and the argument for the deterministic citation check, the valid_for_reporting flag, and a load test that refuses to conclude.</a:t>
            </a:r>
            <a:endParaRPr lang="en-US" sz="1250" dirty="0"/>
          </a:p>
        </p:txBody>
      </p:sp>
      <p:sp>
        <p:nvSpPr>
          <p:cNvPr id="26"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E768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27664" cy="804672"/>
          </a:xfrm>
          <a:prstGeom prst="rect">
            <a:avLst/>
          </a:prstGeom>
          <a:noFill/>
          <a:ln/>
        </p:spPr>
        <p:txBody>
          <a:bodyPr wrap="square" rtlCol="0" anchor="ctr"/>
          <a:lstStyle/>
          <a:p>
            <a:pPr algn="l" indent="0" marL="0">
              <a:buNone/>
            </a:pPr>
            <a:r>
              <a:rPr lang="en-US" sz="3200" b="1" dirty="0">
                <a:solidFill>
                  <a:schemeClr val="tx2"/>
                </a:solidFill>
              </a:rPr>
              <a:t>What is not finished</a:t>
            </a:r>
            <a:endParaRPr lang="en-US" sz="3200" dirty="0"/>
          </a:p>
        </p:txBody>
      </p:sp>
      <p:sp>
        <p:nvSpPr>
          <p:cNvPr id="3" name="gap-0"/>
          <p:cNvSpPr/>
          <p:nvPr/>
        </p:nvSpPr>
        <p:spPr>
          <a:xfrm>
            <a:off x="566928" y="1225296"/>
            <a:ext cx="7040880" cy="1005840"/>
          </a:xfrm>
          <a:prstGeom prst="roundRect">
            <a:avLst>
              <a:gd name="adj" fmla="val 7273"/>
            </a:avLst>
          </a:prstGeom>
          <a:solidFill>
            <a:schemeClr val="bg2"/>
          </a:solidFill>
          <a:ln/>
        </p:spPr>
      </p:sp>
      <p:sp>
        <p:nvSpPr>
          <p:cNvPr id="4" name="gap-0-key"/>
          <p:cNvSpPr/>
          <p:nvPr/>
        </p:nvSpPr>
        <p:spPr>
          <a:xfrm>
            <a:off x="566928" y="1225296"/>
            <a:ext cx="82296" cy="1005840"/>
          </a:xfrm>
          <a:prstGeom prst="roundRect">
            <a:avLst>
              <a:gd name="adj" fmla="val 44444"/>
            </a:avLst>
          </a:prstGeom>
          <a:solidFill>
            <a:srgbClr val="B85042"/>
          </a:solidFill>
          <a:ln/>
        </p:spPr>
      </p:sp>
      <p:sp>
        <p:nvSpPr>
          <p:cNvPr id="5" name="gap-0-head"/>
          <p:cNvSpPr txBox="1"/>
          <p:nvPr/>
        </p:nvSpPr>
        <p:spPr>
          <a:xfrm>
            <a:off x="859536" y="1335024"/>
            <a:ext cx="6492240" cy="292608"/>
          </a:xfrm>
          <a:prstGeom prst="rect">
            <a:avLst/>
          </a:prstGeom>
          <a:noFill/>
          <a:ln/>
        </p:spPr>
        <p:txBody>
          <a:bodyPr wrap="square" lIns="0" tIns="0" rIns="0" bIns="0" rtlCol="0" anchor="ctr"/>
          <a:lstStyle/>
          <a:p>
            <a:pPr indent="0" marL="0">
              <a:buNone/>
            </a:pPr>
            <a:r>
              <a:rPr lang="en-US" sz="1300" b="1" dirty="0">
                <a:solidFill>
                  <a:schemeClr val="tx2"/>
                </a:solidFill>
              </a:rPr>
              <a:t>docker compose up has never been run</a:t>
            </a:r>
            <a:endParaRPr lang="en-US" sz="1300" dirty="0"/>
          </a:p>
        </p:txBody>
      </p:sp>
      <p:sp>
        <p:nvSpPr>
          <p:cNvPr id="6" name="gap-0-body"/>
          <p:cNvSpPr txBox="1"/>
          <p:nvPr/>
        </p:nvSpPr>
        <p:spPr>
          <a:xfrm>
            <a:off x="859536" y="1627632"/>
            <a:ext cx="6492240" cy="548640"/>
          </a:xfrm>
          <a:prstGeom prst="rect">
            <a:avLst/>
          </a:prstGeom>
          <a:noFill/>
          <a:ln/>
        </p:spPr>
        <p:txBody>
          <a:bodyPr wrap="square" lIns="0" tIns="0" rIns="0" bIns="0" rtlCol="0" anchor="ctr"/>
          <a:lstStyle/>
          <a:p>
            <a:pPr indent="0" marL="0">
              <a:lnSpc>
                <a:spcPct val="108000"/>
              </a:lnSpc>
              <a:buNone/>
            </a:pPr>
            <a:r>
              <a:rPr lang="en-US" sz="1100" dirty="0">
                <a:solidFill>
                  <a:schemeClr val="tx1"/>
                </a:solidFill>
              </a:rPr>
              <a:t>Docker is not installed on the build machine. Every service, stage and health check is written and reviewed; the whole Python system is verified outside containers. The container build is the first thing to check.</a:t>
            </a:r>
            <a:endParaRPr lang="en-US" sz="1100" dirty="0"/>
          </a:p>
        </p:txBody>
      </p:sp>
      <p:sp>
        <p:nvSpPr>
          <p:cNvPr id="7" name="gap-1"/>
          <p:cNvSpPr/>
          <p:nvPr/>
        </p:nvSpPr>
        <p:spPr>
          <a:xfrm>
            <a:off x="566928" y="2340864"/>
            <a:ext cx="7040880" cy="1005840"/>
          </a:xfrm>
          <a:prstGeom prst="roundRect">
            <a:avLst>
              <a:gd name="adj" fmla="val 7273"/>
            </a:avLst>
          </a:prstGeom>
          <a:solidFill>
            <a:schemeClr val="bg2"/>
          </a:solidFill>
          <a:ln/>
        </p:spPr>
      </p:sp>
      <p:sp>
        <p:nvSpPr>
          <p:cNvPr id="8" name="gap-1-key"/>
          <p:cNvSpPr/>
          <p:nvPr/>
        </p:nvSpPr>
        <p:spPr>
          <a:xfrm>
            <a:off x="566928" y="2340864"/>
            <a:ext cx="82296" cy="1005840"/>
          </a:xfrm>
          <a:prstGeom prst="roundRect">
            <a:avLst>
              <a:gd name="adj" fmla="val 44444"/>
            </a:avLst>
          </a:prstGeom>
          <a:solidFill>
            <a:srgbClr val="E0A458"/>
          </a:solidFill>
          <a:ln/>
        </p:spPr>
      </p:sp>
      <p:sp>
        <p:nvSpPr>
          <p:cNvPr id="9" name="gap-1-head"/>
          <p:cNvSpPr txBox="1"/>
          <p:nvPr/>
        </p:nvSpPr>
        <p:spPr>
          <a:xfrm>
            <a:off x="859536" y="2450592"/>
            <a:ext cx="6492240" cy="292608"/>
          </a:xfrm>
          <a:prstGeom prst="rect">
            <a:avLst/>
          </a:prstGeom>
          <a:noFill/>
          <a:ln/>
        </p:spPr>
        <p:txBody>
          <a:bodyPr wrap="square" lIns="0" tIns="0" rIns="0" bIns="0" rtlCol="0" anchor="ctr"/>
          <a:lstStyle/>
          <a:p>
            <a:pPr indent="0" marL="0">
              <a:buNone/>
            </a:pPr>
            <a:r>
              <a:rPr lang="en-US" sz="1300" b="1" dirty="0">
                <a:solidFill>
                  <a:schemeClr val="tx2"/>
                </a:solidFill>
              </a:rPr>
              <a:t>--scale worker=3 not measured</a:t>
            </a:r>
            <a:endParaRPr lang="en-US" sz="1300" dirty="0"/>
          </a:p>
        </p:txBody>
      </p:sp>
      <p:sp>
        <p:nvSpPr>
          <p:cNvPr id="10" name="gap-1-body"/>
          <p:cNvSpPr txBox="1"/>
          <p:nvPr/>
        </p:nvSpPr>
        <p:spPr>
          <a:xfrm>
            <a:off x="859536" y="2743200"/>
            <a:ext cx="6492240" cy="548640"/>
          </a:xfrm>
          <a:prstGeom prst="rect">
            <a:avLst/>
          </a:prstGeom>
          <a:noFill/>
          <a:ln/>
        </p:spPr>
        <p:txBody>
          <a:bodyPr wrap="square" lIns="0" tIns="0" rIns="0" bIns="0" rtlCol="0" anchor="ctr"/>
          <a:lstStyle/>
          <a:p>
            <a:pPr indent="0" marL="0">
              <a:lnSpc>
                <a:spcPct val="108000"/>
              </a:lnSpc>
              <a:buNone/>
            </a:pPr>
            <a:r>
              <a:rPr lang="en-US" sz="1100" dirty="0">
                <a:solidFill>
                  <a:schemeClr val="tx1"/>
                </a:solidFill>
              </a:rPr>
              <a:t>docs/scaling.md gives the capacity model, the method and a decision procedure for each candidate bottleneck — rather than a number that was not taken.</a:t>
            </a:r>
            <a:endParaRPr lang="en-US" sz="1100" dirty="0"/>
          </a:p>
        </p:txBody>
      </p:sp>
      <p:sp>
        <p:nvSpPr>
          <p:cNvPr id="11" name="gap-2"/>
          <p:cNvSpPr/>
          <p:nvPr/>
        </p:nvSpPr>
        <p:spPr>
          <a:xfrm>
            <a:off x="566928" y="3456432"/>
            <a:ext cx="7040880" cy="1005840"/>
          </a:xfrm>
          <a:prstGeom prst="roundRect">
            <a:avLst>
              <a:gd name="adj" fmla="val 7273"/>
            </a:avLst>
          </a:prstGeom>
          <a:solidFill>
            <a:schemeClr val="bg2"/>
          </a:solidFill>
          <a:ln/>
        </p:spPr>
      </p:sp>
      <p:sp>
        <p:nvSpPr>
          <p:cNvPr id="12" name="gap-2-key"/>
          <p:cNvSpPr/>
          <p:nvPr/>
        </p:nvSpPr>
        <p:spPr>
          <a:xfrm>
            <a:off x="566928" y="3456432"/>
            <a:ext cx="82296" cy="1005840"/>
          </a:xfrm>
          <a:prstGeom prst="roundRect">
            <a:avLst>
              <a:gd name="adj" fmla="val 44444"/>
            </a:avLst>
          </a:prstGeom>
          <a:solidFill>
            <a:srgbClr val="E0A458"/>
          </a:solidFill>
          <a:ln/>
        </p:spPr>
      </p:sp>
      <p:sp>
        <p:nvSpPr>
          <p:cNvPr id="13" name="gap-2-head"/>
          <p:cNvSpPr txBox="1"/>
          <p:nvPr/>
        </p:nvSpPr>
        <p:spPr>
          <a:xfrm>
            <a:off x="859536" y="3566160"/>
            <a:ext cx="6492240" cy="292608"/>
          </a:xfrm>
          <a:prstGeom prst="rect">
            <a:avLst/>
          </a:prstGeom>
          <a:noFill/>
          <a:ln/>
        </p:spPr>
        <p:txBody>
          <a:bodyPr wrap="square" lIns="0" tIns="0" rIns="0" bIns="0" rtlCol="0" anchor="ctr"/>
          <a:lstStyle/>
          <a:p>
            <a:pPr indent="0" marL="0">
              <a:buNone/>
            </a:pPr>
            <a:r>
              <a:rPr lang="en-US" sz="1300" b="1" dirty="0">
                <a:solidFill>
                  <a:schemeClr val="tx2"/>
                </a:solidFill>
              </a:rPr>
              <a:t>Every evaluation number is stub-derived</a:t>
            </a:r>
            <a:endParaRPr lang="en-US" sz="1300" dirty="0"/>
          </a:p>
        </p:txBody>
      </p:sp>
      <p:sp>
        <p:nvSpPr>
          <p:cNvPr id="14" name="gap-2-body"/>
          <p:cNvSpPr txBox="1"/>
          <p:nvPr/>
        </p:nvSpPr>
        <p:spPr>
          <a:xfrm>
            <a:off x="859536" y="3858768"/>
            <a:ext cx="6492240" cy="548640"/>
          </a:xfrm>
          <a:prstGeom prst="rect">
            <a:avLst/>
          </a:prstGeom>
          <a:noFill/>
          <a:ln/>
        </p:spPr>
        <p:txBody>
          <a:bodyPr wrap="square" lIns="0" tIns="0" rIns="0" bIns="0" rtlCol="0" anchor="ctr"/>
          <a:lstStyle/>
          <a:p>
            <a:pPr indent="0" marL="0">
              <a:lnSpc>
                <a:spcPct val="108000"/>
              </a:lnSpc>
              <a:buNone/>
            </a:pPr>
            <a:r>
              <a:rPr lang="en-US" sz="1100" dirty="0">
                <a:solidFill>
                  <a:schemeClr val="tx1"/>
                </a:solidFill>
              </a:rPr>
              <a:t>Flagged valid_for_reporting: false in each report. The harness works; answer quality is unmeasured.</a:t>
            </a:r>
            <a:endParaRPr lang="en-US" sz="1100" dirty="0"/>
          </a:p>
        </p:txBody>
      </p:sp>
      <p:sp>
        <p:nvSpPr>
          <p:cNvPr id="15" name="gap-3"/>
          <p:cNvSpPr/>
          <p:nvPr/>
        </p:nvSpPr>
        <p:spPr>
          <a:xfrm>
            <a:off x="566928" y="4572000"/>
            <a:ext cx="7040880" cy="1005840"/>
          </a:xfrm>
          <a:prstGeom prst="roundRect">
            <a:avLst>
              <a:gd name="adj" fmla="val 7273"/>
            </a:avLst>
          </a:prstGeom>
          <a:solidFill>
            <a:schemeClr val="bg2"/>
          </a:solidFill>
          <a:ln/>
        </p:spPr>
      </p:sp>
      <p:sp>
        <p:nvSpPr>
          <p:cNvPr id="16" name="gap-3-key"/>
          <p:cNvSpPr/>
          <p:nvPr/>
        </p:nvSpPr>
        <p:spPr>
          <a:xfrm>
            <a:off x="566928" y="4572000"/>
            <a:ext cx="82296" cy="1005840"/>
          </a:xfrm>
          <a:prstGeom prst="roundRect">
            <a:avLst>
              <a:gd name="adj" fmla="val 44444"/>
            </a:avLst>
          </a:prstGeom>
          <a:solidFill>
            <a:srgbClr val="B85042"/>
          </a:solidFill>
          <a:ln/>
        </p:spPr>
      </p:sp>
      <p:sp>
        <p:nvSpPr>
          <p:cNvPr id="17" name="gap-3-head"/>
          <p:cNvSpPr txBox="1"/>
          <p:nvPr/>
        </p:nvSpPr>
        <p:spPr>
          <a:xfrm>
            <a:off x="859536" y="4681728"/>
            <a:ext cx="6492240" cy="292608"/>
          </a:xfrm>
          <a:prstGeom prst="rect">
            <a:avLst/>
          </a:prstGeom>
          <a:noFill/>
          <a:ln/>
        </p:spPr>
        <p:txBody>
          <a:bodyPr wrap="square" lIns="0" tIns="0" rIns="0" bIns="0" rtlCol="0" anchor="ctr"/>
          <a:lstStyle/>
          <a:p>
            <a:pPr indent="0" marL="0">
              <a:buNone/>
            </a:pPr>
            <a:r>
              <a:rPr lang="en-US" sz="1300" b="1" dirty="0">
                <a:solidFill>
                  <a:schemeClr val="tx2"/>
                </a:solidFill>
              </a:rPr>
              <a:t>The prompt comparison returns a zero delta</a:t>
            </a:r>
            <a:endParaRPr lang="en-US" sz="1300" dirty="0"/>
          </a:p>
        </p:txBody>
      </p:sp>
      <p:sp>
        <p:nvSpPr>
          <p:cNvPr id="18" name="gap-3-body"/>
          <p:cNvSpPr txBox="1"/>
          <p:nvPr/>
        </p:nvSpPr>
        <p:spPr>
          <a:xfrm>
            <a:off x="859536" y="4974336"/>
            <a:ext cx="6492240" cy="548640"/>
          </a:xfrm>
          <a:prstGeom prst="rect">
            <a:avLst/>
          </a:prstGeom>
          <a:noFill/>
          <a:ln/>
        </p:spPr>
        <p:txBody>
          <a:bodyPr wrap="square" lIns="0" tIns="0" rIns="0" bIns="0" rtlCol="0" anchor="ctr"/>
          <a:lstStyle/>
          <a:p>
            <a:pPr indent="0" marL="0">
              <a:lnSpc>
                <a:spcPct val="108000"/>
              </a:lnSpc>
              <a:buNone/>
            </a:pPr>
            <a:r>
              <a:rPr lang="en-US" sz="1100" dirty="0">
                <a:solidFill>
                  <a:schemeClr val="tx1"/>
                </a:solidFill>
              </a:rPr>
              <a:t>The stub reads only the step tag, so it cannot distinguish v1 from v2. prompt-compare now refuses to run against it rather than print zeros.</a:t>
            </a:r>
            <a:endParaRPr lang="en-US" sz="1100" dirty="0"/>
          </a:p>
        </p:txBody>
      </p:sp>
      <p:sp>
        <p:nvSpPr>
          <p:cNvPr id="19" name="next"/>
          <p:cNvSpPr/>
          <p:nvPr/>
        </p:nvSpPr>
        <p:spPr>
          <a:xfrm>
            <a:off x="7863840" y="1225296"/>
            <a:ext cx="3730752" cy="4352544"/>
          </a:xfrm>
          <a:prstGeom prst="roundRect">
            <a:avLst>
              <a:gd name="adj" fmla="val 1961"/>
            </a:avLst>
          </a:prstGeom>
          <a:solidFill>
            <a:schemeClr val="tx2"/>
          </a:solidFill>
          <a:ln/>
        </p:spPr>
      </p:sp>
      <p:sp>
        <p:nvSpPr>
          <p:cNvPr id="20" name="next-head"/>
          <p:cNvSpPr txBox="1"/>
          <p:nvPr/>
        </p:nvSpPr>
        <p:spPr>
          <a:xfrm>
            <a:off x="8138160" y="1426464"/>
            <a:ext cx="3200400" cy="310896"/>
          </a:xfrm>
          <a:prstGeom prst="rect">
            <a:avLst/>
          </a:prstGeom>
          <a:noFill/>
          <a:ln/>
        </p:spPr>
        <p:txBody>
          <a:bodyPr wrap="square" lIns="0" tIns="0" rIns="0" bIns="0" rtlCol="0" anchor="ctr"/>
          <a:lstStyle/>
          <a:p>
            <a:pPr indent="0" marL="0">
              <a:buNone/>
            </a:pPr>
            <a:r>
              <a:rPr lang="en-US" sz="1500" b="1" dirty="0">
                <a:solidFill>
                  <a:srgbClr val="E0A458"/>
                </a:solidFill>
              </a:rPr>
              <a:t>If there were another week</a:t>
            </a:r>
            <a:endParaRPr lang="en-US" sz="1500" dirty="0"/>
          </a:p>
        </p:txBody>
      </p:sp>
      <p:sp>
        <p:nvSpPr>
          <p:cNvPr id="21" name="next-0-dot"/>
          <p:cNvSpPr/>
          <p:nvPr/>
        </p:nvSpPr>
        <p:spPr>
          <a:xfrm>
            <a:off x="8138160" y="1847088"/>
            <a:ext cx="274320" cy="274320"/>
          </a:xfrm>
          <a:prstGeom prst="ellipse">
            <a:avLst/>
          </a:prstGeom>
          <a:solidFill>
            <a:srgbClr val="B85042"/>
          </a:solidFill>
          <a:ln/>
        </p:spPr>
      </p:sp>
      <p:sp>
        <p:nvSpPr>
          <p:cNvPr id="22" name="next-0-n"/>
          <p:cNvSpPr txBox="1"/>
          <p:nvPr/>
        </p:nvSpPr>
        <p:spPr>
          <a:xfrm>
            <a:off x="8138160" y="18470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3" name="next-0-t"/>
          <p:cNvSpPr txBox="1"/>
          <p:nvPr/>
        </p:nvSpPr>
        <p:spPr>
          <a:xfrm>
            <a:off x="8540496" y="1810512"/>
            <a:ext cx="2779776" cy="786384"/>
          </a:xfrm>
          <a:prstGeom prst="rect">
            <a:avLst/>
          </a:prstGeom>
          <a:noFill/>
          <a:ln/>
        </p:spPr>
        <p:txBody>
          <a:bodyPr wrap="square" lIns="0" tIns="0" rIns="0" bIns="0" rtlCol="0" anchor="ctr"/>
          <a:lstStyle/>
          <a:p>
            <a:pPr indent="0" marL="0">
              <a:lnSpc>
                <a:spcPct val="110000"/>
              </a:lnSpc>
              <a:buNone/>
            </a:pPr>
            <a:r>
              <a:rPr lang="en-US" sz="1050" dirty="0">
                <a:solidFill>
                  <a:srgbClr val="C2C8D6"/>
                </a:solidFill>
              </a:rPr>
              <a:t>Run docker compose up, then --scale worker=3, and replace the predictions with measurements.</a:t>
            </a:r>
            <a:endParaRPr lang="en-US" sz="1050" dirty="0"/>
          </a:p>
        </p:txBody>
      </p:sp>
      <p:sp>
        <p:nvSpPr>
          <p:cNvPr id="24" name="next-1-dot"/>
          <p:cNvSpPr/>
          <p:nvPr/>
        </p:nvSpPr>
        <p:spPr>
          <a:xfrm>
            <a:off x="8138160" y="2724912"/>
            <a:ext cx="274320" cy="274320"/>
          </a:xfrm>
          <a:prstGeom prst="ellipse">
            <a:avLst/>
          </a:prstGeom>
          <a:solidFill>
            <a:srgbClr val="B85042"/>
          </a:solidFill>
          <a:ln/>
        </p:spPr>
      </p:sp>
      <p:sp>
        <p:nvSpPr>
          <p:cNvPr id="25" name="next-1-n"/>
          <p:cNvSpPr txBox="1"/>
          <p:nvPr/>
        </p:nvSpPr>
        <p:spPr>
          <a:xfrm>
            <a:off x="8138160" y="272491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6" name="next-1-t"/>
          <p:cNvSpPr txBox="1"/>
          <p:nvPr/>
        </p:nvSpPr>
        <p:spPr>
          <a:xfrm>
            <a:off x="8540496" y="2688336"/>
            <a:ext cx="2779776" cy="786384"/>
          </a:xfrm>
          <a:prstGeom prst="rect">
            <a:avLst/>
          </a:prstGeom>
          <a:noFill/>
          <a:ln/>
        </p:spPr>
        <p:txBody>
          <a:bodyPr wrap="square" lIns="0" tIns="0" rIns="0" bIns="0" rtlCol="0" anchor="ctr"/>
          <a:lstStyle/>
          <a:p>
            <a:pPr indent="0" marL="0">
              <a:lnSpc>
                <a:spcPct val="110000"/>
              </a:lnSpc>
              <a:buNone/>
            </a:pPr>
            <a:r>
              <a:rPr lang="en-US" sz="1050" dirty="0">
                <a:solidFill>
                  <a:srgbClr val="C2C8D6"/>
                </a:solidFill>
              </a:rPr>
              <a:t>Point it at a real provider and run prompt-compare. If change C1 does not move the restricted-use scenarios, the central hypothesis is wrong.</a:t>
            </a:r>
            <a:endParaRPr lang="en-US" sz="1050" dirty="0"/>
          </a:p>
        </p:txBody>
      </p:sp>
      <p:sp>
        <p:nvSpPr>
          <p:cNvPr id="27" name="next-2-dot"/>
          <p:cNvSpPr/>
          <p:nvPr/>
        </p:nvSpPr>
        <p:spPr>
          <a:xfrm>
            <a:off x="8138160" y="3602736"/>
            <a:ext cx="274320" cy="274320"/>
          </a:xfrm>
          <a:prstGeom prst="ellipse">
            <a:avLst/>
          </a:prstGeom>
          <a:solidFill>
            <a:srgbClr val="B85042"/>
          </a:solidFill>
          <a:ln/>
        </p:spPr>
      </p:sp>
      <p:sp>
        <p:nvSpPr>
          <p:cNvPr id="28" name="next-2-n"/>
          <p:cNvSpPr txBox="1"/>
          <p:nvPr/>
        </p:nvSpPr>
        <p:spPr>
          <a:xfrm>
            <a:off x="8138160" y="3602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9" name="next-2-t"/>
          <p:cNvSpPr txBox="1"/>
          <p:nvPr/>
        </p:nvSpPr>
        <p:spPr>
          <a:xfrm>
            <a:off x="8540496" y="3566160"/>
            <a:ext cx="2779776" cy="786384"/>
          </a:xfrm>
          <a:prstGeom prst="rect">
            <a:avLst/>
          </a:prstGeom>
          <a:noFill/>
          <a:ln/>
        </p:spPr>
        <p:txBody>
          <a:bodyPr wrap="square" lIns="0" tIns="0" rIns="0" bIns="0" rtlCol="0" anchor="ctr"/>
          <a:lstStyle/>
          <a:p>
            <a:pPr indent="0" marL="0">
              <a:lnSpc>
                <a:spcPct val="110000"/>
              </a:lnSpc>
              <a:buNone/>
            </a:pPr>
            <a:r>
              <a:rPr lang="en-US" sz="1050" dirty="0">
                <a:solidFill>
                  <a:srgbClr val="C2C8D6"/>
                </a:solidFill>
              </a:rPr>
              <a:t>Trim the verifier's context to the cited clauses. 25% of tokens, small change.</a:t>
            </a:r>
            <a:endParaRPr lang="en-US" sz="1050" dirty="0"/>
          </a:p>
        </p:txBody>
      </p:sp>
      <p:sp>
        <p:nvSpPr>
          <p:cNvPr id="30" name="next-3-dot"/>
          <p:cNvSpPr/>
          <p:nvPr/>
        </p:nvSpPr>
        <p:spPr>
          <a:xfrm>
            <a:off x="8138160" y="4480560"/>
            <a:ext cx="274320" cy="274320"/>
          </a:xfrm>
          <a:prstGeom prst="ellipse">
            <a:avLst/>
          </a:prstGeom>
          <a:solidFill>
            <a:srgbClr val="B85042"/>
          </a:solidFill>
          <a:ln/>
        </p:spPr>
      </p:sp>
      <p:sp>
        <p:nvSpPr>
          <p:cNvPr id="31" name="next-3-n"/>
          <p:cNvSpPr txBox="1"/>
          <p:nvPr/>
        </p:nvSpPr>
        <p:spPr>
          <a:xfrm>
            <a:off x="8138160" y="44805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2" name="next-3-t"/>
          <p:cNvSpPr txBox="1"/>
          <p:nvPr/>
        </p:nvSpPr>
        <p:spPr>
          <a:xfrm>
            <a:off x="8540496" y="4443984"/>
            <a:ext cx="2779776" cy="786384"/>
          </a:xfrm>
          <a:prstGeom prst="rect">
            <a:avLst/>
          </a:prstGeom>
          <a:noFill/>
          <a:ln/>
        </p:spPr>
        <p:txBody>
          <a:bodyPr wrap="square" lIns="0" tIns="0" rIns="0" bIns="0" rtlCol="0" anchor="ctr"/>
          <a:lstStyle/>
          <a:p>
            <a:pPr indent="0" marL="0">
              <a:lnSpc>
                <a:spcPct val="110000"/>
              </a:lnSpc>
              <a:buNone/>
            </a:pPr>
            <a:r>
              <a:rPr lang="en-US" sz="1050" dirty="0">
                <a:solidFill>
                  <a:srgbClr val="C2C8D6"/>
                </a:solidFill>
              </a:rPr>
              <a:t>Move the queue to Redis Streams with consumer groups for at-least-once delivery.</a:t>
            </a:r>
            <a:endParaRPr lang="en-US" sz="1050" dirty="0"/>
          </a:p>
        </p:txBody>
      </p:sp>
      <p:sp>
        <p:nvSpPr>
          <p:cNvPr id="33" name="gaps-foot"/>
          <p:cNvSpPr txBox="1"/>
          <p:nvPr/>
        </p:nvSpPr>
        <p:spPr>
          <a:xfrm>
            <a:off x="566928" y="5687568"/>
            <a:ext cx="7040880" cy="457200"/>
          </a:xfrm>
          <a:prstGeom prst="rect">
            <a:avLst/>
          </a:prstGeom>
          <a:noFill/>
          <a:ln/>
        </p:spPr>
        <p:txBody>
          <a:bodyPr wrap="square" lIns="0" tIns="0" rIns="0" bIns="0" rtlCol="0" anchor="ctr"/>
          <a:lstStyle/>
          <a:p>
            <a:pPr indent="0" marL="0">
              <a:lnSpc>
                <a:spcPct val="110000"/>
              </a:lnSpc>
              <a:buNone/>
            </a:pPr>
            <a:r>
              <a:rPr lang="en-US" sz="1150" i="1" dirty="0">
                <a:solidFill>
                  <a:srgbClr val="5A6378"/>
                </a:solidFill>
              </a:rPr>
              <a:t>The brief says completing all 22 requirements is not expected and that sound prioritisation is itself assessed. This is the list, rather than a gap to be found.</a:t>
            </a:r>
            <a:endParaRPr lang="en-US" sz="1150" dirty="0"/>
          </a:p>
        </p:txBody>
      </p:sp>
      <p:sp>
        <p:nvSpPr>
          <p:cNvPr id="35" name="Text 0"/>
          <p:cNvSpPr/>
          <p:nvPr>
            <p:ph idx="101" type="body" hasCustomPrompt="1"/>
          </p:nvPr>
        </p:nvSpPr>
        <p:spPr>
          <a:xfrm>
            <a:off x="566928" y="1152144"/>
            <a:ext cx="11027664" cy="502920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5A63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66928" y="2651760"/>
            <a:ext cx="11027664" cy="365760"/>
          </a:xfrm>
          <a:prstGeom prst="rect">
            <a:avLst/>
          </a:prstGeom>
          <a:noFill/>
          <a:ln/>
        </p:spPr>
        <p:txBody>
          <a:bodyPr wrap="square" rtlCol="0"/>
          <a:lstStyle/>
          <a:p>
            <a:pPr indent="0" marL="0">
              <a:buNone/>
            </a:pPr>
            <a:r>
              <a:rPr lang="en-US" sz="1300" b="1" spc="300" kern="0" dirty="0">
                <a:solidFill>
                  <a:srgbClr val="E0A458"/>
                </a:solidFill>
              </a:rPr>
              <a:t>DEMONSTRATION</a:t>
            </a:r>
            <a:endParaRPr lang="en-US" sz="1300" dirty="0"/>
          </a:p>
        </p:txBody>
      </p:sp>
      <p:sp>
        <p:nvSpPr>
          <p:cNvPr id="3" name="Text 0"/>
          <p:cNvSpPr/>
          <p:nvPr>
            <p:ph idx="101" type="title" hasCustomPrompt="1"/>
          </p:nvPr>
        </p:nvSpPr>
        <p:spPr>
          <a:xfrm>
            <a:off x="566928" y="3035808"/>
            <a:ext cx="11027664" cy="1005840"/>
          </a:xfrm>
          <a:prstGeom prst="rect">
            <a:avLst/>
          </a:prstGeom>
          <a:noFill/>
          <a:ln/>
        </p:spPr>
        <p:txBody>
          <a:bodyPr wrap="square" rtlCol="0"/>
          <a:lstStyle/>
          <a:p>
            <a:pPr indent="0" marL="0">
              <a:buNone/>
            </a:pPr>
            <a:r>
              <a:rPr lang="en-US" sz="4000" b="1" dirty="0">
                <a:solidFill>
                  <a:schemeClr val="bg1"/>
                </a:solidFill>
              </a:rPr>
              <a:t>Let's run the case</a:t>
            </a:r>
            <a:endParaRPr lang="en-US" sz="4000" dirty="0"/>
          </a:p>
        </p:txBody>
      </p:sp>
      <p:sp>
        <p:nvSpPr>
          <p:cNvPr id="4" name="Text 0"/>
          <p:cNvSpPr/>
          <p:nvPr>
            <p:ph idx="102" type="body" hasCustomPrompt="1"/>
          </p:nvPr>
        </p:nvSpPr>
        <p:spPr>
          <a:xfrm>
            <a:off x="566928" y="4069080"/>
            <a:ext cx="8778240" cy="822960"/>
          </a:xfrm>
          <a:prstGeom prst="rect">
            <a:avLst/>
          </a:prstGeom>
          <a:noFill/>
          <a:ln/>
        </p:spPr>
        <p:txBody>
          <a:bodyPr wrap="square" rtlCol="0"/>
          <a:lstStyle/>
          <a:p>
            <a:pPr indent="0" marL="0">
              <a:buNone/>
            </a:pPr>
            <a:r>
              <a:rPr lang="en-US" sz="1600" dirty="0">
                <a:solidFill>
                  <a:srgbClr val="A7BEAE"/>
                </a:solidFill>
              </a:rPr>
              <a:t>scripts/demo.sh — the section 4.1 reference claim, end to end</a:t>
            </a:r>
            <a:endParaRPr lang="en-US" sz="1600" dirty="0"/>
          </a:p>
        </p:txBody>
      </p:sp>
      <p:sp>
        <p:nvSpPr>
          <p:cNvPr id="5" name="demo-0-dot"/>
          <p:cNvSpPr/>
          <p:nvPr/>
        </p:nvSpPr>
        <p:spPr>
          <a:xfrm>
            <a:off x="566928" y="5029200"/>
            <a:ext cx="237744" cy="237744"/>
          </a:xfrm>
          <a:prstGeom prst="ellipse">
            <a:avLst/>
          </a:prstGeom>
          <a:solidFill>
            <a:srgbClr val="3F7D6E"/>
          </a:solidFill>
          <a:ln/>
        </p:spPr>
      </p:sp>
      <p:sp>
        <p:nvSpPr>
          <p:cNvPr id="6" name="demo-0-head"/>
          <p:cNvSpPr txBox="1"/>
          <p:nvPr/>
        </p:nvSpPr>
        <p:spPr>
          <a:xfrm>
            <a:off x="932688" y="4956048"/>
            <a:ext cx="3200400" cy="274320"/>
          </a:xfrm>
          <a:prstGeom prst="rect">
            <a:avLst/>
          </a:prstGeom>
          <a:noFill/>
          <a:ln/>
        </p:spPr>
        <p:txBody>
          <a:bodyPr wrap="square" lIns="0" tIns="0" rIns="0" bIns="0" rtlCol="0" anchor="ctr"/>
          <a:lstStyle/>
          <a:p>
            <a:pPr indent="0" marL="0">
              <a:buNone/>
            </a:pPr>
            <a:r>
              <a:rPr lang="en-US" sz="1200" b="1" dirty="0">
                <a:solidFill>
                  <a:srgbClr val="FFFFFF"/>
                </a:solidFill>
              </a:rPr>
              <a:t>Valid claim → routed recommendation</a:t>
            </a:r>
            <a:endParaRPr lang="en-US" sz="1200" dirty="0"/>
          </a:p>
        </p:txBody>
      </p:sp>
      <p:sp>
        <p:nvSpPr>
          <p:cNvPr id="7" name="demo-0-sub"/>
          <p:cNvSpPr txBox="1"/>
          <p:nvPr/>
        </p:nvSpPr>
        <p:spPr>
          <a:xfrm>
            <a:off x="932688" y="5212080"/>
            <a:ext cx="3200400" cy="274320"/>
          </a:xfrm>
          <a:prstGeom prst="rect">
            <a:avLst/>
          </a:prstGeom>
          <a:noFill/>
          <a:ln/>
        </p:spPr>
        <p:txBody>
          <a:bodyPr wrap="square" lIns="0" tIns="0" rIns="0" bIns="0" rtlCol="0" anchor="ctr"/>
          <a:lstStyle/>
          <a:p>
            <a:pPr indent="0" marL="0">
              <a:buNone/>
            </a:pPr>
            <a:r>
              <a:rPr lang="en-US" sz="1050" dirty="0">
                <a:solidFill>
                  <a:srgbClr val="8FA3B8"/>
                </a:solidFill>
              </a:rPr>
              <a:t>citations that resolve</a:t>
            </a:r>
            <a:endParaRPr lang="en-US" sz="1050" dirty="0"/>
          </a:p>
        </p:txBody>
      </p:sp>
      <p:sp>
        <p:nvSpPr>
          <p:cNvPr id="8" name="demo-1-dot"/>
          <p:cNvSpPr/>
          <p:nvPr/>
        </p:nvSpPr>
        <p:spPr>
          <a:xfrm>
            <a:off x="4288536" y="5029200"/>
            <a:ext cx="237744" cy="237744"/>
          </a:xfrm>
          <a:prstGeom prst="ellipse">
            <a:avLst/>
          </a:prstGeom>
          <a:solidFill>
            <a:srgbClr val="3F7D6E"/>
          </a:solidFill>
          <a:ln/>
        </p:spPr>
      </p:sp>
      <p:sp>
        <p:nvSpPr>
          <p:cNvPr id="9" name="demo-1-head"/>
          <p:cNvSpPr txBox="1"/>
          <p:nvPr/>
        </p:nvSpPr>
        <p:spPr>
          <a:xfrm>
            <a:off x="4654296" y="4956048"/>
            <a:ext cx="3200400" cy="274320"/>
          </a:xfrm>
          <a:prstGeom prst="rect">
            <a:avLst/>
          </a:prstGeom>
          <a:noFill/>
          <a:ln/>
        </p:spPr>
        <p:txBody>
          <a:bodyPr wrap="square" lIns="0" tIns="0" rIns="0" bIns="0" rtlCol="0" anchor="ctr"/>
          <a:lstStyle/>
          <a:p>
            <a:pPr indent="0" marL="0">
              <a:buNone/>
            </a:pPr>
            <a:r>
              <a:rPr lang="en-US" sz="1200" b="1" dirty="0">
                <a:solidFill>
                  <a:srgbClr val="FFFFFF"/>
                </a:solidFill>
              </a:rPr>
              <a:t>One run traced end to end</a:t>
            </a:r>
            <a:endParaRPr lang="en-US" sz="1200" dirty="0"/>
          </a:p>
        </p:txBody>
      </p:sp>
      <p:sp>
        <p:nvSpPr>
          <p:cNvPr id="10" name="demo-1-sub"/>
          <p:cNvSpPr txBox="1"/>
          <p:nvPr/>
        </p:nvSpPr>
        <p:spPr>
          <a:xfrm>
            <a:off x="4654296" y="5212080"/>
            <a:ext cx="3200400" cy="274320"/>
          </a:xfrm>
          <a:prstGeom prst="rect">
            <a:avLst/>
          </a:prstGeom>
          <a:noFill/>
          <a:ln/>
        </p:spPr>
        <p:txBody>
          <a:bodyPr wrap="square" lIns="0" tIns="0" rIns="0" bIns="0" rtlCol="0" anchor="ctr"/>
          <a:lstStyle/>
          <a:p>
            <a:pPr indent="0" marL="0">
              <a:buNone/>
            </a:pPr>
            <a:r>
              <a:rPr lang="en-US" sz="1050" dirty="0">
                <a:solidFill>
                  <a:srgbClr val="8FA3B8"/>
                </a:solidFill>
              </a:rPr>
              <a:t>every tool call, query, prompt version, cost</a:t>
            </a:r>
            <a:endParaRPr lang="en-US" sz="1050" dirty="0"/>
          </a:p>
        </p:txBody>
      </p:sp>
      <p:sp>
        <p:nvSpPr>
          <p:cNvPr id="11" name="demo-2-dot"/>
          <p:cNvSpPr/>
          <p:nvPr/>
        </p:nvSpPr>
        <p:spPr>
          <a:xfrm>
            <a:off x="8010144" y="5029200"/>
            <a:ext cx="237744" cy="237744"/>
          </a:xfrm>
          <a:prstGeom prst="ellipse">
            <a:avLst/>
          </a:prstGeom>
          <a:solidFill>
            <a:srgbClr val="3F7D6E"/>
          </a:solidFill>
          <a:ln/>
        </p:spPr>
      </p:sp>
      <p:sp>
        <p:nvSpPr>
          <p:cNvPr id="12" name="demo-2-head"/>
          <p:cNvSpPr txBox="1"/>
          <p:nvPr/>
        </p:nvSpPr>
        <p:spPr>
          <a:xfrm>
            <a:off x="8375904" y="4956048"/>
            <a:ext cx="3200400" cy="274320"/>
          </a:xfrm>
          <a:prstGeom prst="rect">
            <a:avLst/>
          </a:prstGeom>
          <a:noFill/>
          <a:ln/>
        </p:spPr>
        <p:txBody>
          <a:bodyPr wrap="square" lIns="0" tIns="0" rIns="0" bIns="0" rtlCol="0" anchor="ctr"/>
          <a:lstStyle/>
          <a:p>
            <a:pPr indent="0" marL="0">
              <a:buNone/>
            </a:pPr>
            <a:r>
              <a:rPr lang="en-US" sz="1200" b="1" dirty="0">
                <a:solidFill>
                  <a:srgbClr val="FFFFFF"/>
                </a:solidFill>
              </a:rPr>
              <a:t>Malformed request</a:t>
            </a:r>
            <a:endParaRPr lang="en-US" sz="1200" dirty="0"/>
          </a:p>
        </p:txBody>
      </p:sp>
      <p:sp>
        <p:nvSpPr>
          <p:cNvPr id="13" name="demo-2-sub"/>
          <p:cNvSpPr txBox="1"/>
          <p:nvPr/>
        </p:nvSpPr>
        <p:spPr>
          <a:xfrm>
            <a:off x="8375904" y="5212080"/>
            <a:ext cx="3200400" cy="274320"/>
          </a:xfrm>
          <a:prstGeom prst="rect">
            <a:avLst/>
          </a:prstGeom>
          <a:noFill/>
          <a:ln/>
        </p:spPr>
        <p:txBody>
          <a:bodyPr wrap="square" lIns="0" tIns="0" rIns="0" bIns="0" rtlCol="0" anchor="ctr"/>
          <a:lstStyle/>
          <a:p>
            <a:pPr indent="0" marL="0">
              <a:buNone/>
            </a:pPr>
            <a:r>
              <a:rPr lang="en-US" sz="1050" dirty="0">
                <a:solidFill>
                  <a:srgbClr val="8FA3B8"/>
                </a:solidFill>
              </a:rPr>
              <a:t>quarantined, no agent run started</a:t>
            </a:r>
            <a:endParaRPr lang="en-US" sz="1050" dirty="0"/>
          </a:p>
        </p:txBody>
      </p:sp>
      <p:sp>
        <p:nvSpPr>
          <p:cNvPr id="14" name="demo-3-dot"/>
          <p:cNvSpPr/>
          <p:nvPr/>
        </p:nvSpPr>
        <p:spPr>
          <a:xfrm>
            <a:off x="566928" y="5742432"/>
            <a:ext cx="237744" cy="237744"/>
          </a:xfrm>
          <a:prstGeom prst="ellipse">
            <a:avLst/>
          </a:prstGeom>
          <a:solidFill>
            <a:srgbClr val="3F7D6E"/>
          </a:solidFill>
          <a:ln/>
        </p:spPr>
      </p:sp>
      <p:sp>
        <p:nvSpPr>
          <p:cNvPr id="15" name="demo-3-head"/>
          <p:cNvSpPr txBox="1"/>
          <p:nvPr/>
        </p:nvSpPr>
        <p:spPr>
          <a:xfrm>
            <a:off x="932688" y="5669280"/>
            <a:ext cx="3200400" cy="274320"/>
          </a:xfrm>
          <a:prstGeom prst="rect">
            <a:avLst/>
          </a:prstGeom>
          <a:noFill/>
          <a:ln/>
        </p:spPr>
        <p:txBody>
          <a:bodyPr wrap="square" lIns="0" tIns="0" rIns="0" bIns="0" rtlCol="0" anchor="ctr"/>
          <a:lstStyle/>
          <a:p>
            <a:pPr indent="0" marL="0">
              <a:buNone/>
            </a:pPr>
            <a:r>
              <a:rPr lang="en-US" sz="1200" b="1" dirty="0">
                <a:solidFill>
                  <a:srgbClr val="FFFFFF"/>
                </a:solidFill>
              </a:rPr>
              <a:t>Prompt injection</a:t>
            </a:r>
            <a:endParaRPr lang="en-US" sz="1200" dirty="0"/>
          </a:p>
        </p:txBody>
      </p:sp>
      <p:sp>
        <p:nvSpPr>
          <p:cNvPr id="16" name="demo-3-sub"/>
          <p:cNvSpPr txBox="1"/>
          <p:nvPr/>
        </p:nvSpPr>
        <p:spPr>
          <a:xfrm>
            <a:off x="932688" y="5925312"/>
            <a:ext cx="3200400" cy="274320"/>
          </a:xfrm>
          <a:prstGeom prst="rect">
            <a:avLst/>
          </a:prstGeom>
          <a:noFill/>
          <a:ln/>
        </p:spPr>
        <p:txBody>
          <a:bodyPr wrap="square" lIns="0" tIns="0" rIns="0" bIns="0" rtlCol="0" anchor="ctr"/>
          <a:lstStyle/>
          <a:p>
            <a:pPr indent="0" marL="0">
              <a:buNone/>
            </a:pPr>
            <a:r>
              <a:rPr lang="en-US" sz="1050" dirty="0">
                <a:solidFill>
                  <a:srgbClr val="8FA3B8"/>
                </a:solidFill>
              </a:rPr>
              <a:t>blocked at the boundary</a:t>
            </a:r>
            <a:endParaRPr lang="en-US" sz="1050" dirty="0"/>
          </a:p>
        </p:txBody>
      </p:sp>
      <p:sp>
        <p:nvSpPr>
          <p:cNvPr id="17" name="demo-4-dot"/>
          <p:cNvSpPr/>
          <p:nvPr/>
        </p:nvSpPr>
        <p:spPr>
          <a:xfrm>
            <a:off x="4288536" y="5742432"/>
            <a:ext cx="237744" cy="237744"/>
          </a:xfrm>
          <a:prstGeom prst="ellipse">
            <a:avLst/>
          </a:prstGeom>
          <a:solidFill>
            <a:srgbClr val="3F7D6E"/>
          </a:solidFill>
          <a:ln/>
        </p:spPr>
      </p:sp>
      <p:sp>
        <p:nvSpPr>
          <p:cNvPr id="18" name="demo-4-head"/>
          <p:cNvSpPr txBox="1"/>
          <p:nvPr/>
        </p:nvSpPr>
        <p:spPr>
          <a:xfrm>
            <a:off x="4654296" y="5669280"/>
            <a:ext cx="3200400" cy="274320"/>
          </a:xfrm>
          <a:prstGeom prst="rect">
            <a:avLst/>
          </a:prstGeom>
          <a:noFill/>
          <a:ln/>
        </p:spPr>
        <p:txBody>
          <a:bodyPr wrap="square" lIns="0" tIns="0" rIns="0" bIns="0" rtlCol="0" anchor="ctr"/>
          <a:lstStyle/>
          <a:p>
            <a:pPr indent="0" marL="0">
              <a:buNone/>
            </a:pPr>
            <a:r>
              <a:rPr lang="en-US" sz="1200" b="1" dirty="0">
                <a:solidFill>
                  <a:srgbClr val="FFFFFF"/>
                </a:solidFill>
              </a:rPr>
              <a:t>Provider outage</a:t>
            </a:r>
            <a:endParaRPr lang="en-US" sz="1200" dirty="0"/>
          </a:p>
        </p:txBody>
      </p:sp>
      <p:sp>
        <p:nvSpPr>
          <p:cNvPr id="19" name="demo-4-sub"/>
          <p:cNvSpPr txBox="1"/>
          <p:nvPr/>
        </p:nvSpPr>
        <p:spPr>
          <a:xfrm>
            <a:off x="4654296" y="5925312"/>
            <a:ext cx="3200400" cy="274320"/>
          </a:xfrm>
          <a:prstGeom prst="rect">
            <a:avLst/>
          </a:prstGeom>
          <a:noFill/>
          <a:ln/>
        </p:spPr>
        <p:txBody>
          <a:bodyPr wrap="square" lIns="0" tIns="0" rIns="0" bIns="0" rtlCol="0" anchor="ctr"/>
          <a:lstStyle/>
          <a:p>
            <a:pPr indent="0" marL="0">
              <a:buNone/>
            </a:pPr>
            <a:r>
              <a:rPr lang="en-US" sz="1050" dirty="0">
                <a:solidFill>
                  <a:srgbClr val="8FA3B8"/>
                </a:solidFill>
              </a:rPr>
              <a:t>circuit opens, degradation path visible</a:t>
            </a:r>
            <a:endParaRPr lang="en-US" sz="1050" dirty="0"/>
          </a:p>
        </p:txBody>
      </p:sp>
      <p:sp>
        <p:nvSpPr>
          <p:cNvPr id="20" name="demo-5-dot"/>
          <p:cNvSpPr/>
          <p:nvPr/>
        </p:nvSpPr>
        <p:spPr>
          <a:xfrm>
            <a:off x="8010144" y="5742432"/>
            <a:ext cx="237744" cy="237744"/>
          </a:xfrm>
          <a:prstGeom prst="ellipse">
            <a:avLst/>
          </a:prstGeom>
          <a:solidFill>
            <a:srgbClr val="3F7D6E"/>
          </a:solidFill>
          <a:ln/>
        </p:spPr>
      </p:sp>
      <p:sp>
        <p:nvSpPr>
          <p:cNvPr id="21" name="demo-5-head"/>
          <p:cNvSpPr txBox="1"/>
          <p:nvPr/>
        </p:nvSpPr>
        <p:spPr>
          <a:xfrm>
            <a:off x="8375904" y="5669280"/>
            <a:ext cx="3200400" cy="274320"/>
          </a:xfrm>
          <a:prstGeom prst="rect">
            <a:avLst/>
          </a:prstGeom>
          <a:noFill/>
          <a:ln/>
        </p:spPr>
        <p:txBody>
          <a:bodyPr wrap="square" lIns="0" tIns="0" rIns="0" bIns="0" rtlCol="0" anchor="ctr"/>
          <a:lstStyle/>
          <a:p>
            <a:pPr indent="0" marL="0">
              <a:buNone/>
            </a:pPr>
            <a:r>
              <a:rPr lang="en-US" sz="1200" b="1" dirty="0">
                <a:solidFill>
                  <a:srgbClr val="FFFFFF"/>
                </a:solidFill>
              </a:rPr>
              <a:t>The section 4.1 case</a:t>
            </a:r>
            <a:endParaRPr lang="en-US" sz="1200" dirty="0"/>
          </a:p>
        </p:txBody>
      </p:sp>
      <p:sp>
        <p:nvSpPr>
          <p:cNvPr id="22" name="demo-5-sub"/>
          <p:cNvSpPr txBox="1"/>
          <p:nvPr/>
        </p:nvSpPr>
        <p:spPr>
          <a:xfrm>
            <a:off x="8375904" y="5925312"/>
            <a:ext cx="3200400" cy="274320"/>
          </a:xfrm>
          <a:prstGeom prst="rect">
            <a:avLst/>
          </a:prstGeom>
          <a:noFill/>
          <a:ln/>
        </p:spPr>
        <p:txBody>
          <a:bodyPr wrap="square" lIns="0" tIns="0" rIns="0" bIns="0" rtlCol="0" anchor="ctr"/>
          <a:lstStyle/>
          <a:p>
            <a:pPr indent="0" marL="0">
              <a:buNone/>
            </a:pPr>
            <a:r>
              <a:rPr lang="en-US" sz="1050" dirty="0">
                <a:solidFill>
                  <a:srgbClr val="8FA3B8"/>
                </a:solidFill>
              </a:rPr>
              <a:t>not covered, investigation, both clauses cited</a:t>
            </a:r>
            <a:endParaRPr lang="en-US" sz="1050" dirty="0"/>
          </a:p>
        </p:txBody>
      </p:sp>
    </p:spTree>
  </p:cSld>
  <p:clrMapOvr>
    <a:masterClrMapping/>
  </p:clrMapOvr>
</p:sld>
</file>

<file path=ppt/theme/theme1.xml><?xml version="1.0" encoding="utf-8"?>
<a:theme xmlns:a="http://schemas.openxmlformats.org/drawingml/2006/main" name="Claim Triage">
  <a:themeElements>
    <a:clrScheme name="Claim Triage">
      <a:dk1>
        <a:srgbClr val="16181F"/>
      </a:dk1>
      <a:lt1>
        <a:srgbClr val="FFFFFF"/>
      </a:lt1>
      <a:dk2>
        <a:srgbClr val="232738"/>
      </a:dk2>
      <a:lt2>
        <a:srgbClr val="F4F5F8"/>
      </a:lt2>
      <a:accent1>
        <a:srgbClr val="B85042"/>
      </a:accent1>
      <a:accent2>
        <a:srgbClr val="E0A458"/>
      </a:accent2>
      <a:accent3>
        <a:srgbClr val="3F7D6E"/>
      </a:accent3>
      <a:accent4>
        <a:srgbClr val="5A6378"/>
      </a:accent4>
      <a:accent5>
        <a:srgbClr val="A7BEAE"/>
      </a:accent5>
      <a:accent6>
        <a:srgbClr val="8C3B30"/>
      </a:accent6>
      <a:hlink>
        <a:srgbClr val="B85042"/>
      </a:hlink>
      <a:folHlink>
        <a:srgbClr val="8C3B30"/>
      </a:folHlink>
    </a:clrScheme>
    <a:fontScheme name="Claim Tri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Dept of CSE (AI &amp; ML), PESU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Motor Insurance Claim Intake and Triage</dc:title>
  <dc:subject>Motor Insurance Claim Intake and Triage</dc:subject>
  <dc:creator>Mini Project 01</dc:creator>
  <cp:lastModifiedBy>Mini Project 01</cp:lastModifiedBy>
  <cp:revision>1</cp:revision>
  <dcterms:created xsi:type="dcterms:W3CDTF">2026-10-27T14:57:12Z</dcterms:created>
  <dcterms:modified xsi:type="dcterms:W3CDTF">2026-10-27T14:57:12Z</dcterms:modified>
</cp:coreProperties>
</file>